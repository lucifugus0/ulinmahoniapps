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DD4BF"/>
                </a:solidFill>
                <a:latin typeface="Calibri"/>
              </a:defRPr>
            </a:pPr>
            <a:r>
              <a:t>ULIN MAHONI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Booking Flow &amp; Room Availability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A0"/>
                </a:solidFill>
                <a:latin typeface="Calibri"/>
              </a:defRPr>
            </a:pPr>
            <a:r>
              <a:t>Daily &amp; Monthly Rental  |  Indonesia Kos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754880"/>
            <a:ext cx="1188720" cy="457200"/>
          </a:xfrm>
          <a:prstGeom prst="roundRect">
            <a:avLst/>
          </a:prstGeom>
          <a:solidFill>
            <a:srgbClr val="389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Search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4846320"/>
            <a:ext cx="182880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0" y="4754880"/>
            <a:ext cx="1188720" cy="4572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Book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31920" y="4846320"/>
            <a:ext cx="182880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0" y="4754880"/>
            <a:ext cx="11887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303520" y="4846320"/>
            <a:ext cx="182880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0" y="4754880"/>
            <a:ext cx="1188720" cy="4572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Check-In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675120" y="4846320"/>
            <a:ext cx="182880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4754880"/>
            <a:ext cx="118872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Renewal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046720" y="4846320"/>
            <a:ext cx="182880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4754880"/>
            <a:ext cx="1188720" cy="4572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Check-Out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418320" y="4846320"/>
            <a:ext cx="182880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0" y="4754880"/>
            <a:ext cx="118872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Refund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  <a:latin typeface="Calibri"/>
              </a:defRPr>
            </a:pPr>
            <a:r>
              <a:t>Complete lifecycle from room search to deposit refund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D4BF"/>
                </a:solidFill>
                <a:latin typeface="Calibri"/>
              </a:defRPr>
            </a:pPr>
            <a:r>
              <a:t>Daily vs Monthly Rental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9CFC"/>
                </a:solidFill>
                <a:latin typeface="Calibri"/>
              </a:defRPr>
            </a:pPr>
            <a:r>
              <a:t>DAILY RENTAL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DD4BF"/>
                </a:solidFill>
                <a:latin typeface="Calibri"/>
              </a:defRPr>
            </a:pPr>
            <a:r>
              <a:t>Booking Constraints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Max check-in date: 90 days from today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Max stay duration: 60 days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Check-in time: 14:00  |  Check-out time: 12:00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DD4BF"/>
                </a:solidFill>
                <a:latin typeface="Calibri"/>
              </a:defRPr>
            </a:pPr>
            <a:r>
              <a:t>Room Availability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Rooms are ALWAYS shown in search results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rental_status flag is IGNORED for daily rooms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Availability checked by date conflict with existing bookings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Same-day turnaround allowed (12:00 out, 14:00 in)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DD4BF"/>
                </a:solidFill>
                <a:latin typeface="Calibri"/>
              </a:defRPr>
            </a:pPr>
            <a:r>
              <a:t>Pricing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5 pricing tiers per date:</a:t>
            </a:r>
          </a:p>
          <a:p>
            <a:pPr>
              <a:spcAft>
                <a:spcPts val="400"/>
              </a:spcAft>
              <a:defRPr sz="1300" b="0">
                <a:solidFill>
                  <a:srgbClr val="FBBF24"/>
                </a:solidFill>
                <a:latin typeface="Calibri"/>
              </a:defRPr>
            </a:pPr>
            <a:r>
              <a:t>  High Season &gt; Low Season &gt; Holiday &gt; Weekend &gt; Weekday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Per-date pricing stored in m_room_prices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Manual price overrides preserved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Calibri"/>
              </a:defRPr>
            </a:pPr>
            <a:r>
              <a:t>MONTHLY RENTAL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DD4BF"/>
                </a:solidFill>
                <a:latin typeface="Calibri"/>
              </a:defRPr>
            </a:pPr>
            <a:r>
              <a:t>Booking Constraints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Max check-in date: 14 days from today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Max stay duration: 12 months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Check-in date: flexible  |  Check-out: same day next month(s)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DD4BF"/>
                </a:solidFill>
                <a:latin typeface="Calibri"/>
              </a:defRPr>
            </a:pPr>
            <a:r>
              <a:t>Room Availability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Controlled by rental_status flag</a:t>
            </a:r>
          </a:p>
          <a:p>
            <a:pPr>
              <a:spcAft>
                <a:spcPts val="400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  rental_status = 0 : Available (shown in search)</a:t>
            </a:r>
          </a:p>
          <a:p>
            <a:pPr>
              <a:spcAft>
                <a:spcPts val="400"/>
              </a:spcAft>
              <a:defRPr sz="1300" b="0">
                <a:solidFill>
                  <a:srgbClr val="EF4444"/>
                </a:solidFill>
                <a:latin typeface="Calibri"/>
              </a:defRPr>
            </a:pPr>
            <a:r>
              <a:t>  rental_status = 1 : Booked (hidden from search)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Status blocked immediately on booking creation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DD4BF"/>
                </a:solidFill>
                <a:latin typeface="Calibri"/>
              </a:defRPr>
            </a:pPr>
            <a:r>
              <a:t>Pricing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Flat monthly price from room record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Price locked at booking time</a:t>
            </a:r>
          </a:p>
          <a:p>
            <a:pPr>
              <a:spcAft>
                <a:spcPts val="400"/>
              </a:spcAft>
              <a:defRPr sz="1300" b="0">
                <a:solidFill>
                  <a:srgbClr val="FBBF24"/>
                </a:solidFill>
                <a:latin typeface="Calibri"/>
              </a:defRPr>
            </a:pPr>
            <a:r>
              <a:t>  Renewal uses current pricing (may differ)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original_checkin_day preserved across renewals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9CFC"/>
                </a:solidFill>
                <a:latin typeface="Calibri"/>
              </a:defRPr>
            </a:pPr>
            <a:r>
              <a:t>Search Room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USER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1. Select property (or browse all)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2. Choose rental period: Daily or Monthly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3. Select check-in and check-out dates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4. System filters available rooms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5. View room details, photos, facilities, pricing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SYSTEM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89CFC"/>
                </a:solidFill>
                <a:latin typeface="Calibri"/>
              </a:defRPr>
            </a:pPr>
            <a:r>
              <a:t>Daily: Show all active rooms (status=1)</a:t>
            </a: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  → Exclude rooms with conflicting date bookings</a:t>
            </a: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  → Check-in 14:00 / Check-out 12:00 boundary</a:t>
            </a:r>
          </a:p>
          <a:p>
            <a:pPr>
              <a:spcAft>
                <a:spcPts val="400"/>
              </a:spcAft>
              <a:defRPr sz="1300" b="0">
                <a:solidFill>
                  <a:srgbClr val="A78BFA"/>
                </a:solidFill>
                <a:latin typeface="Calibri"/>
              </a:defRPr>
            </a:pPr>
            <a:r>
              <a:t>Monthly: Filter by rental_status = 0</a:t>
            </a: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  → Only show rooms not currently occupied</a:t>
            </a: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  → Immediate block on any booking creation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Room Availability at This Step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54864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CFC"/>
                </a:solidFill>
                <a:latin typeface="Calibri"/>
              </a:defRPr>
            </a:pPr>
            <a:r>
              <a:t>DAILY ROOMS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Room 101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4754880"/>
            <a:ext cx="100584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Apr 10-12 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Room 102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5120640"/>
            <a:ext cx="100584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AVAILABLE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Apr 10-12 free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Room 103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5486400"/>
            <a:ext cx="100584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CONFLICT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Apr 10-11 booked by another guest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52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Room 104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5852160"/>
            <a:ext cx="100584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AVAILABLE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852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Apr 10-12 free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20624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MONTHLY ROOMS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Room 201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4754880"/>
            <a:ext cx="100584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rental_status =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120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Room 202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5120640"/>
            <a:ext cx="100584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OCCUPIED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rental_status = 1 (occupied)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486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Room 203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79" y="5486400"/>
            <a:ext cx="100584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AVAILABLE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rental_status = 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852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Room 204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79" y="5852160"/>
            <a:ext cx="100584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OCCUPIED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rental_status = 1 (occupied)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D4BF"/>
                </a:solidFill>
                <a:latin typeface="Calibri"/>
              </a:defRPr>
            </a:pPr>
            <a:r>
              <a:t>Make Booking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4747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DD4BF"/>
                </a:solidFill>
                <a:latin typeface="Calibri"/>
              </a:defRPr>
            </a:pPr>
            <a:r>
              <a:t>User Submits Booking</a:t>
            </a:r>
          </a:p>
          <a:p>
            <a:pPr>
              <a:spcAft>
                <a:spcPts val="400"/>
              </a:spcAft>
              <a:defRPr sz="1100" b="0">
                <a:solidFill>
                  <a:srgbClr val="A0A0A0"/>
                </a:solidFill>
                <a:latin typeface="Calibri"/>
              </a:defRPr>
            </a:pPr>
            <a:r>
              <a:t>POST /api/v1/booking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Selects room, dates, parking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Reviews pricing breakdown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Confirms booking request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931920" y="1737360"/>
            <a:ext cx="36576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097280"/>
            <a:ext cx="34747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1887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DD4BF"/>
                </a:solidFill>
                <a:latin typeface="Calibri"/>
              </a:defRPr>
            </a:pPr>
            <a:r>
              <a:t>System Creates Records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FBBF24"/>
                </a:solidFill>
                <a:latin typeface="Calibri"/>
              </a:defRPr>
            </a:pPr>
            <a:r>
              <a:t>Transaction: status = pending</a:t>
            </a:r>
          </a:p>
          <a:p>
            <a:pPr>
              <a:spcAft>
                <a:spcPts val="4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Booking: status = 1 (active)</a:t>
            </a:r>
          </a:p>
          <a:p>
            <a:pPr>
              <a:spcAft>
                <a:spcPts val="400"/>
              </a:spcAft>
              <a:defRPr sz="1200" b="0">
                <a:solidFill>
                  <a:srgbClr val="EF4444"/>
                </a:solidFill>
                <a:latin typeface="Calibri"/>
              </a:defRPr>
            </a:pPr>
            <a:r>
              <a:t>Payment: status = unpaid</a:t>
            </a:r>
          </a:p>
          <a:p>
            <a:pPr>
              <a:spcAft>
                <a:spcPts val="400"/>
              </a:spcAft>
              <a:defRPr sz="1200" b="1">
                <a:solidFill>
                  <a:srgbClr val="F97316"/>
                </a:solidFill>
                <a:latin typeface="Calibri"/>
              </a:defRPr>
            </a:pPr>
            <a:r>
              <a:t>Expiry: 15 min countdown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955279" y="1737360"/>
            <a:ext cx="36576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0" y="1097280"/>
            <a:ext cx="32004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1887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F4444"/>
                </a:solidFill>
                <a:latin typeface="Calibri"/>
              </a:defRPr>
            </a:pPr>
            <a:r>
              <a:t>If Expired (15 min)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EF4444"/>
                </a:solidFill>
                <a:latin typeface="Calibri"/>
              </a:defRPr>
            </a:pPr>
            <a:r>
              <a:t>Transaction: status = expired</a:t>
            </a:r>
          </a:p>
          <a:p>
            <a:pPr>
              <a:spcAft>
                <a:spcPts val="400"/>
              </a:spcAft>
              <a:defRPr sz="1200" b="0">
                <a:solidFill>
                  <a:srgbClr val="EF4444"/>
                </a:solidFill>
                <a:latin typeface="Calibri"/>
              </a:defRPr>
            </a:pPr>
            <a:r>
              <a:t>Booking: status = 0 (inactive)</a:t>
            </a:r>
          </a:p>
          <a:p>
            <a:pPr>
              <a:spcAft>
                <a:spcPts val="4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Monthly: rental_status = 0</a:t>
            </a:r>
          </a:p>
          <a:p>
            <a:pPr>
              <a:spcAft>
                <a:spcPts val="4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Room released back to 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Room Availability Impact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66160"/>
            <a:ext cx="54864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CFC"/>
                </a:solidFill>
                <a:latin typeface="Calibri"/>
              </a:defRPr>
            </a:pPr>
            <a:r>
              <a:t>DAILY ROOM BOOKED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Room 101 booked for Apr 10-12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rental_status: NO CHANGE (stays 0)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Other users searching Apr 10-12:</a:t>
            </a:r>
          </a:p>
          <a:p>
            <a:pPr>
              <a:spcAft>
                <a:spcPts val="400"/>
              </a:spcAft>
              <a:defRPr sz="1200" b="0">
                <a:solidFill>
                  <a:srgbClr val="EF4444"/>
                </a:solidFill>
                <a:latin typeface="Calibri"/>
              </a:defRPr>
            </a:pPr>
            <a:r>
              <a:t>  Room 101: hidden (date conflict detected)</a:t>
            </a:r>
          </a:p>
          <a:p>
            <a:pPr>
              <a:spcAft>
                <a:spcPts val="4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  Room 102: still available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Other users searching Apr 13-15:</a:t>
            </a:r>
          </a:p>
          <a:p>
            <a:pPr>
              <a:spcAft>
                <a:spcPts val="4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  Room 101: available (no conflict)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566160"/>
            <a:ext cx="53035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MONTHLY ROOM BOOKED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1148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Room 201 booked for Apr-May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EF4444"/>
                </a:solidFill>
                <a:latin typeface="Calibri"/>
              </a:defRPr>
            </a:pPr>
            <a:r>
              <a:t>rental_status: IMMEDIATELY SET TO 1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Other users searching any dates:</a:t>
            </a:r>
          </a:p>
          <a:p>
            <a:pPr>
              <a:spcAft>
                <a:spcPts val="400"/>
              </a:spcAft>
              <a:defRPr sz="1200" b="0">
                <a:solidFill>
                  <a:srgbClr val="EF4444"/>
                </a:solidFill>
                <a:latin typeface="Calibri"/>
              </a:defRPr>
            </a:pPr>
            <a:r>
              <a:t>  Room 201: hidden from all searches</a:t>
            </a:r>
          </a:p>
          <a:p>
            <a:pPr>
              <a:spcAft>
                <a:spcPts val="4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  Room 203: still available (status=0)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FBBF24"/>
                </a:solidFill>
                <a:latin typeface="Calibri"/>
              </a:defRPr>
            </a:pPr>
            <a:r>
              <a:t>Room blocked even during 15-min</a:t>
            </a:r>
          </a:p>
          <a:p>
            <a:pPr>
              <a:spcAft>
                <a:spcPts val="400"/>
              </a:spcAft>
              <a:defRPr sz="1200" b="0">
                <a:solidFill>
                  <a:srgbClr val="FBBF24"/>
                </a:solidFill>
                <a:latin typeface="Calibri"/>
              </a:defRPr>
            </a:pPr>
            <a:r>
              <a:t>payment window to prevent double-booking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Calibri"/>
              </a:defRPr>
            </a:pPr>
            <a:r>
              <a:t>Make Payment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PAYMENT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9CFC"/>
                </a:solidFill>
                <a:latin typeface="Calibri"/>
              </a:defRPr>
            </a:pPr>
            <a:r>
              <a:t>Virtual Account (VA)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BRI, BNI, BCA, Mandiri, CIMB</a:t>
            </a:r>
          </a:p>
          <a:p>
            <a:pPr>
              <a:spcAft>
                <a:spcPts val="400"/>
              </a:spcAft>
              <a:defRPr sz="1100" b="0">
                <a:solidFill>
                  <a:srgbClr val="A0A0A0"/>
                </a:solidFill>
                <a:latin typeface="Calibri"/>
              </a:defRPr>
            </a:pPr>
            <a:r>
              <a:t>  Unique VA number generated per booking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QRIS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Scan QR code to pay</a:t>
            </a:r>
          </a:p>
          <a:p>
            <a:pPr>
              <a:spcAft>
                <a:spcPts val="400"/>
              </a:spcAft>
              <a:defRPr sz="1100" b="0">
                <a:solidFill>
                  <a:srgbClr val="A0A0A0"/>
                </a:solidFill>
                <a:latin typeface="Calibri"/>
              </a:defRPr>
            </a:pPr>
            <a:r>
              <a:t>  Supported by all Indonesian banks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A78BFA"/>
                </a:solidFill>
                <a:latin typeface="Calibri"/>
              </a:defRPr>
            </a:pPr>
            <a:r>
              <a:t>Credit Card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Direct card payment via DOKU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FBBF24"/>
                </a:solidFill>
                <a:latin typeface="Calibri"/>
              </a:defRPr>
            </a:pPr>
            <a:r>
              <a:t>Powered by DOKU Payment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097280"/>
            <a:ext cx="36576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PAYMENT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64592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1. User selects payment method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2. System generates payment code/QR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3. User completes payment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4. DOKU sends webhook callback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5. System verifies &amp; updates status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2DD4BF"/>
                </a:solidFill>
                <a:latin typeface="Calibri"/>
              </a:defRPr>
            </a:pPr>
            <a:r>
              <a:t>Status Transition:</a:t>
            </a: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  pending  →  paid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F97316"/>
                </a:solidFill>
                <a:latin typeface="Calibri"/>
              </a:defRPr>
            </a:pPr>
            <a:r>
              <a:t>Payment deadline: 15 minutes</a:t>
            </a:r>
          </a:p>
          <a:p>
            <a:pPr>
              <a:spcAft>
                <a:spcPts val="400"/>
              </a:spcAft>
              <a:defRPr sz="1200" b="0">
                <a:solidFill>
                  <a:srgbClr val="F97316"/>
                </a:solidFill>
                <a:latin typeface="Calibri"/>
              </a:defRPr>
            </a:pPr>
            <a:r>
              <a:t>Auto-expire if not paid in time</a:t>
            </a: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Admin can manually verify payment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097280"/>
            <a:ext cx="33832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188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AFTER PAYMENT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6459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Transaction:</a:t>
            </a: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  status = paid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Booking:</a:t>
            </a:r>
          </a:p>
          <a:p>
            <a:pPr>
              <a:spcAft>
                <a:spcPts val="400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  status = 1 (active)</a:t>
            </a:r>
          </a:p>
          <a:p>
            <a:pPr>
              <a:spcAft>
                <a:spcPts val="400"/>
              </a:spcAft>
              <a:defRPr sz="1300" b="0">
                <a:solidFill>
                  <a:srgbClr val="FBBF24"/>
                </a:solidFill>
                <a:latin typeface="Calibri"/>
              </a:defRPr>
            </a:pPr>
            <a:r>
              <a:t>  Waiting for check-in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Push Notification:</a:t>
            </a:r>
          </a:p>
          <a:p>
            <a:pPr>
              <a:spcAft>
                <a:spcPts val="400"/>
              </a:spcAft>
              <a:defRPr sz="1300" b="0">
                <a:solidFill>
                  <a:srgbClr val="2DD4BF"/>
                </a:solidFill>
                <a:latin typeface="Calibri"/>
              </a:defRPr>
            </a:pPr>
            <a:r>
              <a:t>  Sent to guest + admins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Room Availability:</a:t>
            </a:r>
          </a:p>
          <a:p>
            <a:pPr>
              <a:spcAft>
                <a:spcPts val="400"/>
              </a:spcAft>
              <a:defRPr sz="1300" b="0">
                <a:solidFill>
                  <a:srgbClr val="389CFC"/>
                </a:solidFill>
                <a:latin typeface="Calibri"/>
              </a:defRPr>
            </a:pPr>
            <a:r>
              <a:t>  Daily: unchanged</a:t>
            </a:r>
          </a:p>
          <a:p>
            <a:pPr>
              <a:spcAft>
                <a:spcPts val="400"/>
              </a:spcAft>
              <a:defRPr sz="1300" b="0">
                <a:solidFill>
                  <a:srgbClr val="A78BFA"/>
                </a:solidFill>
                <a:latin typeface="Calibri"/>
              </a:defRPr>
            </a:pPr>
            <a:r>
              <a:t>  Monthly: stays blocked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Room Availability: No Change from 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89CFC"/>
                </a:solidFill>
                <a:latin typeface="Calibri"/>
              </a:defRPr>
            </a:pPr>
            <a:r>
              <a:t>Daily rooms: Still available for non-conflicting dates. Conflict-based filtering continues.</a:t>
            </a:r>
          </a:p>
          <a:p>
            <a:pPr>
              <a:spcAft>
                <a:spcPts val="400"/>
              </a:spcAft>
              <a:defRPr sz="1300" b="0">
                <a:solidFill>
                  <a:srgbClr val="A78BFA"/>
                </a:solidFill>
                <a:latin typeface="Calibri"/>
              </a:defRPr>
            </a:pPr>
            <a:r>
              <a:t>Monthly rooms: rental_status remains 1. Room stays hidden from all searches.</a:t>
            </a:r>
          </a:p>
          <a:p>
            <a:pPr>
              <a:spcAft>
                <a:spcPts val="400"/>
              </a:spcAft>
              <a:defRPr sz="1300" b="0">
                <a:solidFill>
                  <a:srgbClr val="A0A0A0"/>
                </a:solidFill>
                <a:latin typeface="Calibri"/>
              </a:defRPr>
            </a:pPr>
            <a:r>
              <a:t>Payment confirmation does not change room availability — it was already reserved at booking creation.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78BFA"/>
                </a:solidFill>
                <a:latin typeface="Calibri"/>
              </a:defRPr>
            </a:pPr>
            <a:r>
              <a:t>Check-In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ADMIN CHECK-IN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1. Admin opens Confirmed Bookings page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2. Clicks Check-In button on the booking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3. Uploads guest ID document:</a:t>
            </a: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   KTP / Passport / SIM / Other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4. Verifies guest identity (NIK, photo)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5. System records:</a:t>
            </a:r>
          </a:p>
          <a:p>
            <a:pPr>
              <a:spcAft>
                <a:spcPts val="400"/>
              </a:spcAft>
              <a:defRPr sz="1200" b="0">
                <a:solidFill>
                  <a:srgbClr val="2DD4BF"/>
                </a:solidFill>
                <a:latin typeface="Calibri"/>
              </a:defRPr>
            </a:pPr>
            <a:r>
              <a:t>   check_in_at = current timestamp</a:t>
            </a:r>
          </a:p>
          <a:p>
            <a:pPr>
              <a:spcAft>
                <a:spcPts val="400"/>
              </a:spcAft>
              <a:defRPr sz="1200" b="0">
                <a:solidFill>
                  <a:srgbClr val="2DD4BF"/>
                </a:solidFill>
                <a:latin typeface="Calibri"/>
              </a:defRPr>
            </a:pPr>
            <a:r>
              <a:t>   checked_in_by = admin user ID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6. Prints registration form &amp; invoice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035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STATUS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BBF24"/>
                </a:solidFill>
                <a:latin typeface="Calibri"/>
              </a:defRPr>
            </a:pPr>
            <a:r>
              <a:t>Before Check-In:</a:t>
            </a:r>
          </a:p>
          <a:p>
            <a:pPr>
              <a:spcAft>
                <a:spcPts val="4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  Transaction: paid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Booking: status = 1, check_in_at = NULL</a:t>
            </a:r>
          </a:p>
          <a:p>
            <a:pPr>
              <a:spcAft>
                <a:spcPts val="400"/>
              </a:spcAft>
              <a:defRPr sz="1200" b="0">
                <a:solidFill>
                  <a:srgbClr val="FBBF24"/>
                </a:solidFill>
                <a:latin typeface="Calibri"/>
              </a:defRPr>
            </a:pPr>
            <a:r>
              <a:t>  State: "Waiting for Check-In"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After Check-In:</a:t>
            </a:r>
          </a:p>
          <a:p>
            <a:pPr>
              <a:spcAft>
                <a:spcPts val="4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  Transaction: paid (unchanged)</a:t>
            </a:r>
          </a:p>
          <a:p>
            <a:pPr>
              <a:spcAft>
                <a:spcPts val="400"/>
              </a:spcAft>
              <a:defRPr sz="1200" b="0">
                <a:solidFill>
                  <a:srgbClr val="2DD4BF"/>
                </a:solidFill>
                <a:latin typeface="Calibri"/>
              </a:defRPr>
            </a:pPr>
            <a:r>
              <a:t>  Booking: check_in_at = timestamp</a:t>
            </a:r>
          </a:p>
          <a:p>
            <a:pPr>
              <a:spcAft>
                <a:spcPts val="4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  State: "Checked-In"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check_out_at = NULL (awaiting checkout)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Room Availability at This Step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63440"/>
            <a:ext cx="112471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389CFC"/>
                </a:solidFill>
                <a:latin typeface="Calibri"/>
              </a:defRPr>
            </a:pPr>
            <a:r>
              <a:t>Daily Rooms: NO CHANGE — room availability still determined by date conflicts only</a:t>
            </a:r>
          </a:p>
          <a:p>
            <a:pPr>
              <a:spcAft>
                <a:spcPts val="400"/>
              </a:spcAft>
              <a:defRPr sz="1400" b="0">
                <a:solidFill>
                  <a:srgbClr val="A78BFA"/>
                </a:solidFill>
                <a:latin typeface="Calibri"/>
              </a:defRPr>
            </a:pPr>
            <a:r>
              <a:t>Monthly Rooms: NO CHANGE — rental_status remains 1 (was set at booking creation)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The physical check-in does not change any availability flags.</a:t>
            </a:r>
          </a:p>
          <a:p>
            <a:pPr>
              <a:spcAft>
                <a:spcPts val="400"/>
              </a:spcAft>
              <a:defRPr sz="1300" b="0">
                <a:solidFill>
                  <a:srgbClr val="A0A0A0"/>
                </a:solidFill>
                <a:latin typeface="Calibri"/>
              </a:defRPr>
            </a:pPr>
            <a:r>
              <a:t>Room was already reserved/blocked since Step 2 (booking creation).</a:t>
            </a:r>
          </a:p>
          <a:p>
            <a:pPr>
              <a:spcAft>
                <a:spcPts val="400"/>
              </a:spcAft>
              <a:defRPr sz="1300" b="0">
                <a:solidFill>
                  <a:srgbClr val="A0A0A0"/>
                </a:solidFill>
                <a:latin typeface="Calibri"/>
              </a:defRPr>
            </a:pPr>
            <a:r>
              <a:t>Guest is now physically occupying the room.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97316"/>
                </a:solidFill>
                <a:latin typeface="Calibri"/>
              </a:defRPr>
            </a:pPr>
            <a:r>
              <a:t>Renewal (Extend Stay)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RENEWAL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Trigger: Guest wants to extend stay</a:t>
            </a:r>
          </a:p>
          <a:p>
            <a:pPr>
              <a:spcAft>
                <a:spcPts val="400"/>
              </a:spcAft>
              <a:defRPr sz="1100" b="0">
                <a:solidFill>
                  <a:srgbClr val="A0A0A0"/>
                </a:solidFill>
                <a:latin typeface="Calibri"/>
              </a:defRPr>
            </a:pPr>
            <a:r>
              <a:t>POST /api/v1/booking/{order_id}/renew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1. Validate original booking is paid</a:t>
            </a:r>
          </a:p>
          <a:p>
            <a:pPr>
              <a:spcAft>
                <a:spcPts val="400"/>
              </a:spcAft>
              <a:defRPr sz="1300" b="0">
                <a:solidFill>
                  <a:srgbClr val="FBBF24"/>
                </a:solidFill>
                <a:latin typeface="Calibri"/>
              </a:defRPr>
            </a:pPr>
            <a:r>
              <a:t>2. Skip rental_status check (same tenant)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3. Create NEW transaction (is_renewal = 1)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4. Create NEW booking record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5. New payment record (unpaid, 15 min)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2DD4BF"/>
                </a:solidFill>
                <a:latin typeface="Calibri"/>
              </a:defRPr>
            </a:pPr>
            <a:r>
              <a:t>Original Booking Update: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check_out_at = now() (logged for records)</a:t>
            </a:r>
          </a:p>
          <a:p>
            <a:pPr>
              <a:spcAft>
                <a:spcPts val="400"/>
              </a:spcAft>
              <a:defRPr sz="1200" b="0">
                <a:solidFill>
                  <a:srgbClr val="FBBF24"/>
                </a:solidFill>
                <a:latin typeface="Calibri"/>
              </a:defRPr>
            </a:pPr>
            <a:r>
              <a:t>  renewal_status = 1 (flagged as renewed)</a:t>
            </a:r>
          </a:p>
          <a:p>
            <a:pPr>
              <a:spcAft>
                <a:spcPts val="400"/>
              </a:spcAft>
              <a:defRPr sz="1200" b="0">
                <a:solidFill>
                  <a:srgbClr val="F97316"/>
                </a:solidFill>
                <a:latin typeface="Calibri"/>
              </a:defRPr>
            </a:pPr>
            <a:r>
              <a:t>  Parking quota NOT incremented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05840"/>
            <a:ext cx="53035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CONTINUOUS OCCUPANCY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97316"/>
                </a:solidFill>
                <a:latin typeface="Calibri"/>
              </a:defRPr>
            </a:pPr>
            <a:r>
              <a:t>Key Principle: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Room NEVER becomes available between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original and renewal booking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A78BFA"/>
                </a:solidFill>
                <a:latin typeface="Calibri"/>
              </a:defRPr>
            </a:pPr>
            <a:r>
              <a:t>Monthly Renewal Chain: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Jan 31 check-in → Renew to Feb</a:t>
            </a:r>
          </a:p>
          <a:p>
            <a:pPr>
              <a:spcAft>
                <a:spcPts val="400"/>
              </a:spcAft>
              <a:defRPr sz="1200" b="0">
                <a:solidFill>
                  <a:srgbClr val="FBBF24"/>
                </a:solidFill>
                <a:latin typeface="Calibri"/>
              </a:defRPr>
            </a:pPr>
            <a:r>
              <a:t>  original_checkin_day = 31 preserved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Next renewal: Mar 31 (not Feb 28)</a:t>
            </a: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  Prevents day-loss across months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389CFC"/>
                </a:solidFill>
                <a:latin typeface="Calibri"/>
              </a:defRPr>
            </a:pPr>
            <a:r>
              <a:t>Daily Renewal: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Simply extends the date range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New conflict check for extended dates</a:t>
            </a: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  Other bookings still respected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Room Availability at This Step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63440"/>
            <a:ext cx="112471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389CFC"/>
                </a:solidFill>
                <a:latin typeface="Calibri"/>
              </a:defRPr>
            </a:pPr>
            <a:r>
              <a:t>Daily Rooms: Extended date range now included in conflict check. Room blocked for original + renewal dates.</a:t>
            </a:r>
          </a:p>
          <a:p>
            <a:pPr>
              <a:spcAft>
                <a:spcPts val="400"/>
              </a:spcAft>
              <a:defRPr sz="1400" b="0">
                <a:solidFill>
                  <a:srgbClr val="A78BFA"/>
                </a:solidFill>
                <a:latin typeface="Calibri"/>
              </a:defRPr>
            </a:pPr>
            <a:r>
              <a:t>Monthly Rooms: rental_status STAYS 1 — continuous occupancy, no gap. Room remains hidden from search.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97316"/>
                </a:solidFill>
                <a:latin typeface="Calibri"/>
              </a:defRPr>
            </a:pPr>
            <a:r>
              <a:t>If renewal payment expires (15 min): Room reverts to original booking state.</a:t>
            </a:r>
          </a:p>
          <a:p>
            <a:pPr>
              <a:spcAft>
                <a:spcPts val="400"/>
              </a:spcAft>
              <a:defRPr sz="1300" b="0">
                <a:solidFill>
                  <a:srgbClr val="A0A0A0"/>
                </a:solidFill>
                <a:latin typeface="Calibri"/>
              </a:defRPr>
            </a:pPr>
            <a:r>
              <a:t>If renewal is cancelled: Original booking restored (renewal_status = 0, check_out_at = NULL).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Calibri"/>
              </a:defRPr>
            </a:pPr>
            <a:r>
              <a:t>Step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4899"/>
                </a:solidFill>
                <a:latin typeface="Calibri"/>
              </a:defRPr>
            </a:pPr>
            <a:r>
              <a:t>Check-Out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ADMIN CHECK-OUT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1. Admin opens "Check-out Hari Ini" page</a:t>
            </a: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   Shows bookings due today or overdue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2. Opens checkout modal for the booking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3. Records room item conditions</a:t>
            </a: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   Logs any damages &amp; additional charges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4. Adds checkout notes if needed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5. Confirms check-out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6. System records:</a:t>
            </a:r>
          </a:p>
          <a:p>
            <a:pPr>
              <a:spcAft>
                <a:spcPts val="400"/>
              </a:spcAft>
              <a:defRPr sz="1200" b="0">
                <a:solidFill>
                  <a:srgbClr val="2DD4BF"/>
                </a:solidFill>
                <a:latin typeface="Calibri"/>
              </a:defRPr>
            </a:pPr>
            <a:r>
              <a:t>   check_out_at = current timestamp</a:t>
            </a:r>
          </a:p>
          <a:p>
            <a:pPr>
              <a:spcAft>
                <a:spcPts val="400"/>
              </a:spcAft>
              <a:defRPr sz="1200" b="0">
                <a:solidFill>
                  <a:srgbClr val="2DD4BF"/>
                </a:solidFill>
                <a:latin typeface="Calibri"/>
              </a:defRPr>
            </a:pPr>
            <a:r>
              <a:t>   checked_out_by = admin user 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035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STATUS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Booking:</a:t>
            </a:r>
          </a:p>
          <a:p>
            <a:pPr>
              <a:spcAft>
                <a:spcPts val="400"/>
              </a:spcAft>
              <a:defRPr sz="1300" b="0">
                <a:solidFill>
                  <a:srgbClr val="EF4444"/>
                </a:solidFill>
                <a:latin typeface="Calibri"/>
              </a:defRPr>
            </a:pPr>
            <a:r>
              <a:t>  status = 0 (inactive)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check_out_at = timestamp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Transaction:</a:t>
            </a:r>
          </a:p>
          <a:p>
            <a:pPr>
              <a:spcAft>
                <a:spcPts val="400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  status = paid (unchanged)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Parking:</a:t>
            </a:r>
          </a:p>
          <a:p>
            <a:pPr>
              <a:spcAft>
                <a:spcPts val="400"/>
              </a:spcAft>
              <a:defRPr sz="1300" b="0">
                <a:solidFill>
                  <a:srgbClr val="2DD4BF"/>
                </a:solidFill>
                <a:latin typeface="Calibri"/>
              </a:defRPr>
            </a:pPr>
            <a:r>
              <a:t>  Quota decremented (freed up)</a:t>
            </a:r>
          </a:p>
          <a:p>
            <a:pPr>
              <a:spcAft>
                <a:spcPts val="400"/>
              </a:spcAft>
              <a:defRPr sz="1300" b="0">
                <a:solidFill>
                  <a:srgbClr val="A0A0A0"/>
                </a:solidFill>
                <a:latin typeface="Calibri"/>
              </a:defRPr>
            </a:pPr>
            <a:r>
              <a:t>  From all 3 sources checked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Room Availability at This Step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63440"/>
            <a:ext cx="54864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IF NO OTHER ACTIVE BOOKINGS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89CFC"/>
                </a:solidFill>
                <a:latin typeface="Calibri"/>
              </a:defRPr>
            </a:pPr>
            <a:r>
              <a:t>Daily: Room dates freed from conflict list</a:t>
            </a: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Monthly: rental_status = 0</a:t>
            </a:r>
          </a:p>
          <a:p>
            <a:pPr>
              <a:spcAft>
                <a:spcPts val="400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Room returns to available pool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Visible in search results again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663440"/>
            <a:ext cx="53035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IF OTHER ACTIVE BOOKINGS EXIST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2120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Next guest already has booking for this room</a:t>
            </a:r>
          </a:p>
          <a:p>
            <a:pPr>
              <a:spcAft>
                <a:spcPts val="400"/>
              </a:spcAft>
              <a:defRPr sz="1300" b="0">
                <a:solidFill>
                  <a:srgbClr val="EF4444"/>
                </a:solidFill>
                <a:latin typeface="Calibri"/>
              </a:defRPr>
            </a:pPr>
            <a:r>
              <a:t>Monthly: rental_status stays 1</a:t>
            </a:r>
          </a:p>
          <a:p>
            <a:pPr>
              <a:spcAft>
                <a:spcPts val="400"/>
              </a:spcAft>
              <a:defRPr sz="1300" b="0">
                <a:solidFill>
                  <a:srgbClr val="FBBF24"/>
                </a:solidFill>
                <a:latin typeface="Calibri"/>
              </a:defRPr>
            </a:pPr>
            <a:r>
              <a:t>Room remains blocked for next occupant</a:t>
            </a:r>
          </a:p>
          <a:p>
            <a:pPr>
              <a:spcAft>
                <a:spcPts val="400"/>
              </a:spcAft>
              <a:defRPr sz="1300" b="0">
                <a:solidFill>
                  <a:srgbClr val="A0A0A0"/>
                </a:solidFill>
                <a:latin typeface="Calibri"/>
              </a:defRPr>
            </a:pPr>
            <a:r>
              <a:t>Seamless transition between tenants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Calibri"/>
              </a:defRPr>
            </a:pPr>
            <a:r>
              <a:t>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Calibri"/>
              </a:defRPr>
            </a:pPr>
            <a:r>
              <a:t>Refund &amp; Deposit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029200" cy="3108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CANCELLATION REFUND 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Days Before Check-In → Refund %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10B981"/>
                </a:solidFill>
                <a:latin typeface="Calibri"/>
              </a:defRPr>
            </a:pPr>
            <a:r>
              <a:t>  &gt; 10 days :  75% room + parking</a:t>
            </a:r>
          </a:p>
          <a:p>
            <a:pPr>
              <a:spcAft>
                <a:spcPts val="400"/>
              </a:spcAft>
              <a:defRPr sz="1400" b="0">
                <a:solidFill>
                  <a:srgbClr val="FBBF24"/>
                </a:solidFill>
                <a:latin typeface="Calibri"/>
              </a:defRPr>
            </a:pPr>
            <a:r>
              <a:t>  9-7 days  :  50% room + parking</a:t>
            </a:r>
          </a:p>
          <a:p>
            <a:pPr>
              <a:spcAft>
                <a:spcPts val="400"/>
              </a:spcAft>
              <a:defRPr sz="1400" b="0">
                <a:solidFill>
                  <a:srgbClr val="F97316"/>
                </a:solidFill>
                <a:latin typeface="Calibri"/>
              </a:defRPr>
            </a:pPr>
            <a:r>
              <a:t>  6-3 days  :  25% room + parking</a:t>
            </a:r>
          </a:p>
          <a:p>
            <a:pPr>
              <a:spcAft>
                <a:spcPts val="400"/>
              </a:spcAft>
              <a:defRPr sz="1400" b="0">
                <a:solidFill>
                  <a:srgbClr val="EF4444"/>
                </a:solidFill>
                <a:latin typeface="Calibri"/>
              </a:defRPr>
            </a:pPr>
            <a:r>
              <a:t>  &lt; 3 days  :   0% (no refund)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Deposit: ALWAYS 100% refunded</a:t>
            </a:r>
          </a:p>
          <a:p>
            <a:pPr>
              <a:spcAft>
                <a:spcPts val="400"/>
              </a:spcAft>
              <a:defRPr sz="1300" b="0">
                <a:solidFill>
                  <a:srgbClr val="EF4444"/>
                </a:solidFill>
                <a:latin typeface="Calibri"/>
              </a:defRPr>
            </a:pPr>
            <a:r>
              <a:t>Service/admin fees: NOT refunded</a:t>
            </a: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Admin can override calculated amount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005840"/>
            <a:ext cx="5943600" cy="3108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REFUND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55448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1. User/Admin initiates cancellation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2. System calculates refund breakdown:</a:t>
            </a:r>
          </a:p>
          <a:p>
            <a:pPr>
              <a:spcAft>
                <a:spcPts val="400"/>
              </a:spcAft>
              <a:defRPr sz="1200" b="0">
                <a:solidFill>
                  <a:srgbClr val="2DD4BF"/>
                </a:solidFill>
                <a:latin typeface="Calibri"/>
              </a:defRPr>
            </a:pPr>
            <a:r>
              <a:t>   room_refund + deposit_refund + other_refund</a:t>
            </a:r>
          </a:p>
          <a:p>
            <a:pPr>
              <a:spcAft>
                <a:spcPts val="400"/>
              </a:spcAft>
              <a:defRPr sz="1300" b="0">
                <a:solidFill>
                  <a:srgbClr val="FBBF24"/>
                </a:solidFill>
                <a:latin typeface="Calibri"/>
              </a:defRPr>
            </a:pPr>
            <a:r>
              <a:t>3. Refund record created (status = pending)</a:t>
            </a:r>
          </a:p>
          <a:p>
            <a:pPr>
              <a:spcAft>
                <a:spcPts val="400"/>
              </a:spcAft>
              <a:defRPr sz="1300" b="0">
                <a:solidFill>
                  <a:srgbClr val="EF4444"/>
                </a:solidFill>
                <a:latin typeface="Calibri"/>
              </a:defRPr>
            </a:pPr>
            <a:r>
              <a:t>4. Booking: status = 0, Transaction: cancelled</a:t>
            </a:r>
          </a:p>
          <a:p>
            <a:pPr>
              <a:spcAft>
                <a:spcPts val="400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5. Room released immediately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2DD4BF"/>
                </a:solidFill>
                <a:latin typeface="Calibri"/>
              </a:defRPr>
            </a:pPr>
            <a:r>
              <a:t>Refund Confirmation (Admin):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6. Admin uploads proof of refund transfer</a:t>
            </a:r>
          </a:p>
          <a:p>
            <a:pPr>
              <a:spcAft>
                <a:spcPts val="400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7. Refund status: pending → refunded</a:t>
            </a:r>
          </a:p>
          <a:p>
            <a:pPr>
              <a:spcAft>
                <a:spcPts val="400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8. Transaction status: cancelled → refunded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Bank info required for QRIS/VA refunds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Room Availability After Cancellation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46320"/>
            <a:ext cx="112471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389CFC"/>
                </a:solidFill>
                <a:latin typeface="Calibri"/>
              </a:defRPr>
            </a:pPr>
            <a:r>
              <a:t>Daily Rooms: Booking dates removed from conflict list → Room available for those dates again</a:t>
            </a:r>
          </a:p>
          <a:p>
            <a:pPr>
              <a:spcAft>
                <a:spcPts val="400"/>
              </a:spcAft>
              <a:defRPr sz="1400" b="0">
                <a:solidFill>
                  <a:srgbClr val="A78BFA"/>
                </a:solidFill>
                <a:latin typeface="Calibri"/>
              </a:defRPr>
            </a:pPr>
            <a:r>
              <a:t>Monthly Rooms: rental_status = 0 → Room immediately visible in search results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97316"/>
                </a:solidFill>
                <a:latin typeface="Calibri"/>
              </a:defRPr>
            </a:pPr>
            <a:r>
              <a:t>If cancelling a RENEWAL: Original booking is restored (renewal_status = 0, check_out_at = NULL)</a:t>
            </a:r>
          </a:p>
          <a:p>
            <a:pPr>
              <a:spcAft>
                <a:spcPts val="400"/>
              </a:spcAft>
              <a:defRPr sz="1300" b="0">
                <a:solidFill>
                  <a:srgbClr val="A0A0A0"/>
                </a:solidFill>
                <a:latin typeface="Calibri"/>
              </a:defRPr>
            </a:pPr>
            <a:r>
              <a:t>Parent booking continues as if renewal never happened. Room stays occupied by original tenant.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D4BF"/>
                </a:solidFill>
                <a:latin typeface="Calibri"/>
              </a:defRPr>
            </a:pPr>
            <a:r>
              <a:t>Complete Flow Summary — Room Availability Timeline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1463040" cy="640080"/>
          </a:xfrm>
          <a:prstGeom prst="roundRect">
            <a:avLst/>
          </a:prstGeom>
          <a:solidFill>
            <a:srgbClr val="389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Search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828800" y="1097280"/>
            <a:ext cx="201168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A0"/>
                </a:solidFill>
                <a:latin typeface="Calibri"/>
              </a:defRPr>
            </a:pPr>
            <a:r>
              <a:t>Daily: Show all</a:t>
            </a:r>
            <a:br/>
            <a:r>
              <a:t>Monthly: status=0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29968" y="914400"/>
            <a:ext cx="1463040" cy="64008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Booking</a:t>
            </a:r>
            <a:br/>
            <a:r>
              <a:t>Created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493008" y="1097280"/>
            <a:ext cx="201168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29968" y="16459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A0"/>
                </a:solidFill>
                <a:latin typeface="Calibri"/>
              </a:defRPr>
            </a:pPr>
            <a:r>
              <a:t>Daily: No change</a:t>
            </a:r>
            <a:br/>
            <a:r>
              <a:t>Monthly: status→1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176" y="91440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Payment</a:t>
            </a:r>
            <a:br/>
            <a:r>
              <a:t>Confirmed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157216" y="1097280"/>
            <a:ext cx="201168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16459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A0"/>
                </a:solidFill>
                <a:latin typeface="Calibri"/>
              </a:defRPr>
            </a:pPr>
            <a:r>
              <a:t>Daily: No change</a:t>
            </a:r>
            <a:br/>
            <a:r>
              <a:t>Monthly: Stays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58384" y="914400"/>
            <a:ext cx="1463040" cy="64008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Check-In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821424" y="1097280"/>
            <a:ext cx="201168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58384" y="16459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A0"/>
                </a:solidFill>
                <a:latin typeface="Calibri"/>
              </a:defRPr>
            </a:pPr>
            <a:r>
              <a:t>Daily: No change</a:t>
            </a:r>
            <a:br/>
            <a:r>
              <a:t>Monthly: Stays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22592" y="914400"/>
            <a:ext cx="1463040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Renewal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485632" y="1097280"/>
            <a:ext cx="201168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16459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A0"/>
                </a:solidFill>
                <a:latin typeface="Calibri"/>
              </a:defRPr>
            </a:pPr>
            <a:r>
              <a:t>Daily: Extended</a:t>
            </a:r>
            <a:br/>
            <a:r>
              <a:t>Monthly: Stays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914400"/>
            <a:ext cx="1463040" cy="6400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Check-Out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149840" y="1097280"/>
            <a:ext cx="201168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16459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A0"/>
                </a:solidFill>
                <a:latin typeface="Calibri"/>
              </a:defRPr>
            </a:pPr>
            <a:r>
              <a:t>Daily: Freed</a:t>
            </a:r>
            <a:br/>
            <a:r>
              <a:t>Monthly: status→0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51008" y="914400"/>
            <a:ext cx="146304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Cancelled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51008" y="16459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0A0"/>
                </a:solidFill>
                <a:latin typeface="Calibri"/>
              </a:defRPr>
            </a:pPr>
            <a:r>
              <a:t>Daily: Freed</a:t>
            </a:r>
            <a:br/>
            <a:r>
              <a:t>Monthly: status→0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9CFC"/>
                </a:solidFill>
                <a:latin typeface="Calibri"/>
              </a:defRPr>
            </a:pPr>
            <a:r>
              <a:t>DAILY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01752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Available</a:t>
            </a:r>
            <a:br/>
            <a:r>
              <a:t>(no conflict)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29968" y="3017520"/>
            <a:ext cx="1463040" cy="6400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Available*</a:t>
            </a:r>
            <a:br/>
            <a:r>
              <a:t>(date blocked)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94176" y="3017520"/>
            <a:ext cx="1463040" cy="6400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Available*</a:t>
            </a:r>
            <a:br/>
            <a:r>
              <a:t>(date blocked)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58384" y="3017520"/>
            <a:ext cx="1463040" cy="6400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Available*</a:t>
            </a:r>
            <a:br/>
            <a:r>
              <a:t>(date blocked)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22592" y="3017520"/>
            <a:ext cx="1463040" cy="6400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Available*</a:t>
            </a:r>
            <a:br/>
            <a:r>
              <a:t>(more dates)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301752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Available</a:t>
            </a:r>
            <a:br/>
            <a:r>
              <a:t>(dates freed)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51008" y="301752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Available</a:t>
            </a:r>
            <a:br/>
            <a:r>
              <a:t>(dates freed)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74903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* Room visible in search but blocked for conflicting dates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MONTHLY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48056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Available</a:t>
            </a:r>
            <a:br/>
            <a:r>
              <a:t>status = 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29968" y="4480560"/>
            <a:ext cx="146304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Blocked</a:t>
            </a:r>
            <a:br/>
            <a:r>
              <a:t>status = 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94176" y="4480560"/>
            <a:ext cx="146304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Blocked</a:t>
            </a:r>
            <a:br/>
            <a:r>
              <a:t>status = 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58384" y="4480560"/>
            <a:ext cx="146304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Occupied</a:t>
            </a:r>
            <a:br/>
            <a:r>
              <a:t>status = 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22592" y="4480560"/>
            <a:ext cx="146304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Occupied</a:t>
            </a:r>
            <a:br/>
            <a:r>
              <a:t>status = 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0" y="448056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Available</a:t>
            </a:r>
            <a:br/>
            <a:r>
              <a:t>status = 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51008" y="448056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Available</a:t>
            </a:r>
            <a:br/>
            <a:r>
              <a:t>status = 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Key Insights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852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Daily rooms use date-conflict checking — room is always "available" but specific dates are blocked. Monthly rooms use a binary flag.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Monthly rooms are blocked immediately at booking (even before payment) to prevent double-booking during the 15-min payment window.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Renewals maintain continuous occupancy — room never becomes available between original and renewed booking.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
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2011680"/>
            <a:ext cx="210312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Workflow Harga Harian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CA3AF"/>
                </a:solidFill>
              </a:defRPr>
            </a:pPr>
            <a:r>
              <a:t>Kalender Global &amp; Manajemen Harga Per Kamar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CA3AF"/>
                </a:solidFill>
              </a:defRPr>
            </a:pPr>
            <a:r>
              <a:t>Ulin Mahoni —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Arsitektur Sistem Harga Harian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029200" cy="2286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029200" cy="73152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59E0B"/>
                </a:solidFill>
              </a:defRPr>
            </a:pPr>
            <a:r>
              <a:t>Layer 1: Kalender Global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Menentukan tanggal-tanggal spesial: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E5E7EB"/>
                </a:solidFill>
              </a:defRPr>
            </a:pPr>
            <a:r>
              <a:t>• Holiday (Hari Libur)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5E7EB"/>
                </a:solidFill>
              </a:defRPr>
            </a:pPr>
            <a:r>
              <a:t>• High Season (Musim Ramai)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5E7EB"/>
                </a:solidFill>
              </a:defRPr>
            </a:pPr>
            <a:r>
              <a:t>• Low Season (Musim Sepi)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9CA3AF"/>
                </a:solidFill>
              </a:defRPr>
            </a:pPr>
            <a:r>
              <a:t>Berlaku untuk SEMUA kamar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371600"/>
            <a:ext cx="5029200" cy="2286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0" y="1371600"/>
            <a:ext cx="5029200" cy="73152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</a:defRPr>
            </a:pPr>
            <a:r>
              <a:t>Layer 2: Harga Per Kamar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6560" y="21031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5 kategori harga per kamar: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E5E7EB"/>
                </a:solidFill>
              </a:defRPr>
            </a:pPr>
            <a:r>
              <a:t>• Weekday (Min-Kam)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5E7EB"/>
                </a:solidFill>
              </a:defRPr>
            </a:pPr>
            <a:r>
              <a:t>• Weekend (Jum-Sab)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5E7EB"/>
                </a:solidFill>
              </a:defRPr>
            </a:pPr>
            <a:r>
              <a:t>• Holiday / High Season / Low Season</a:t>
            </a:r>
          </a:p>
          <a:p>
            <a:pPr algn="l">
              <a:spcBef>
                <a:spcPts val="800"/>
              </a:spcBef>
              <a:defRPr sz="1300" b="1">
                <a:solidFill>
                  <a:srgbClr val="9CA3AF"/>
                </a:solidFill>
              </a:defRPr>
            </a:pPr>
            <a:r>
              <a:t>Setiap kamar punya harga sendiri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5577840" y="3840480"/>
            <a:ext cx="1097280" cy="731520"/>
          </a:xfrm>
          <a:prstGeom prst="down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286000" y="4754880"/>
            <a:ext cx="7589520" cy="164592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6000" y="4754880"/>
            <a:ext cx="7589520" cy="73152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4937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</a:defRPr>
            </a:pPr>
            <a:r>
              <a:t>Hasil: Harga Per Tanggal (365 hari ke depan)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5440680"/>
            <a:ext cx="6858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</a:defRPr>
            </a:pPr>
            <a:r>
              <a:t>Sistem menggabungkan kedua layer secara otomatis.</a:t>
            </a:r>
            <a:br/>
            <a:r>
              <a:t>Satu baris = 1 kamar + 1 tanggal + harga + tipe harga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Prioritas Penentuan Harga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8229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3152" cy="8229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087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4630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High Season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8288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Tanggal ditandai high season + kamar punya harga HS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377440"/>
            <a:ext cx="10698480" cy="8229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31520" y="2377440"/>
            <a:ext cx="73152" cy="8229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97280" y="251460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2468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Low Season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8346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Tanggal ditandai low season + kamar punya harga LS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383280"/>
            <a:ext cx="10698480" cy="8229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383280"/>
            <a:ext cx="73152" cy="8229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352044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Holiday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38404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Tanggal ditandai holiday + kamar punya harga holiday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389120"/>
            <a:ext cx="10698480" cy="8229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389120"/>
            <a:ext cx="73152" cy="8229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97280" y="4526280"/>
            <a:ext cx="548640" cy="5486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44805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Weekend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8463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Hari Jumat atau Sabtu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394960"/>
            <a:ext cx="10698480" cy="8229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31520" y="5394960"/>
            <a:ext cx="73152" cy="8229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97280" y="5532120"/>
            <a:ext cx="548640" cy="54864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</a:defRPr>
            </a:pPr>
            <a:r>
              <a:t>Weekday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5852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CA3AF"/>
                </a:solidFill>
              </a:defRPr>
            </a:pPr>
            <a:r>
              <a:t>Hari lainnya (Minggu - Kamis)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217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59E0B"/>
                </a:solidFill>
              </a:defRPr>
            </a:pPr>
            <a:r>
              <a:t>Jika kamar tidak punya harga untuk kategori tersebut → fall through ke Weekend/Weekday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Workflow: Langkah-langkah Setup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1371600"/>
            <a:ext cx="640080" cy="6400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651760" y="1508760"/>
            <a:ext cx="548640" cy="320040"/>
          </a:xfrm>
          <a:prstGeom prst="right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2286000"/>
            <a:ext cx="2560320" cy="29260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2560320" cy="5486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Atur</a:t>
            </a:r>
            <a:br/>
            <a:r>
              <a:t>Kalender 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918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Tandai tanggal holiday,</a:t>
            </a:r>
            <a:br/>
            <a:r>
              <a:t>high season, low season</a:t>
            </a:r>
            <a:br/>
            <a:r>
              <a:t>di menu Masters → Kalender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137160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577840" y="1508760"/>
            <a:ext cx="548640" cy="320040"/>
          </a:xfrm>
          <a:prstGeom prst="right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383280" y="2286000"/>
            <a:ext cx="2560320" cy="29260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83280" y="2286000"/>
            <a:ext cx="256032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Atur Harga</a:t>
            </a:r>
            <a:br/>
            <a:r>
              <a:t>Per Kamar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2918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Set harga 5 kategori</a:t>
            </a:r>
            <a:br/>
            <a:r>
              <a:t>untuk setiap kamar</a:t>
            </a:r>
            <a:br/>
            <a:r>
              <a:t>via tombol $ di daftar kamar</a:t>
            </a:r>
          </a:p>
        </p:txBody>
      </p:sp>
      <p:sp>
        <p:nvSpPr>
          <p:cNvPr id="16" name="Oval 15"/>
          <p:cNvSpPr/>
          <p:nvPr/>
        </p:nvSpPr>
        <p:spPr>
          <a:xfrm>
            <a:off x="7223760" y="137160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8503920" y="1508760"/>
            <a:ext cx="548640" cy="320040"/>
          </a:xfrm>
          <a:prstGeom prst="rightArrow">
            <a:avLst/>
          </a:prstGeom>
          <a:solidFill>
            <a:srgbClr val="3741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09360" y="2286000"/>
            <a:ext cx="2560320" cy="29260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309360" y="2286000"/>
            <a:ext cx="256032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Otomatis</a:t>
            </a:r>
            <a:br/>
            <a:r>
              <a:t>Generate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2918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Sistem menggabungkan</a:t>
            </a:r>
            <a:br/>
            <a:r>
              <a:t>kalender + harga kamar</a:t>
            </a:r>
            <a:br/>
            <a:r>
              <a:t>→ harga per tanggal 365 hari</a:t>
            </a:r>
          </a:p>
        </p:txBody>
      </p:sp>
      <p:sp>
        <p:nvSpPr>
          <p:cNvPr id="22" name="Oval 21"/>
          <p:cNvSpPr/>
          <p:nvPr/>
        </p:nvSpPr>
        <p:spPr>
          <a:xfrm>
            <a:off x="10149840" y="1371600"/>
            <a:ext cx="640080" cy="64008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35440" y="2286000"/>
            <a:ext cx="2560320" cy="292608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440" y="2286000"/>
            <a:ext cx="2560320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0" y="246888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Booking</a:t>
            </a:r>
            <a:br/>
            <a:r>
              <a:t>Masuk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29184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CA3AF"/>
                </a:solidFill>
              </a:defRPr>
            </a:pPr>
            <a:r>
              <a:t>Saat tamu booking harian,</a:t>
            </a:r>
            <a:br/>
            <a:r>
              <a:t>sistem jumlahkan harga</a:t>
            </a:r>
            <a:br/>
            <a:r>
              <a:t>per tanggal secara otomatis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6235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</a:defRPr>
            </a:pPr>
            <a:r>
              <a:t>Penting: Setiap perubahan di Kalender Global atau Harga Per Kamar otomatis meregenerasi harga.</a:t>
            </a:r>
          </a:p>
          <a:p>
            <a:pPr algn="l">
              <a:spcBef>
                <a:spcPts val="600"/>
              </a:spcBef>
              <a:defRPr sz="1300" b="0">
                <a:solidFill>
                  <a:srgbClr val="9CA3AF"/>
                </a:solidFill>
              </a:defRPr>
            </a:pPr>
            <a:r>
              <a:t>Admin tidak perlu melakukan regenerasi manual — sistem melakukannya secara otomatis.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</a:defRPr>
            </a:pPr>
            <a:r>
              <a:t>Contoh: Harga Kamar No. 101 — Maret 2026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960120"/>
            <a:ext cx="1828800" cy="45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2286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Setup Harga Kamar 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5E7EB"/>
                </a:solidFill>
              </a:defRPr>
            </a:pPr>
            <a:r>
              <a:t>Weekday:      Rp 350.000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5E7EB"/>
                </a:solidFill>
              </a:defRPr>
            </a:pPr>
            <a:r>
              <a:t>Weekend:     Rp 450.000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5E7EB"/>
                </a:solidFill>
              </a:defRPr>
            </a:pPr>
            <a:r>
              <a:t>Holiday:        Rp 500.000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5E7EB"/>
                </a:solidFill>
              </a:defRPr>
            </a:pPr>
            <a:r>
              <a:t>High Season: Rp 600.000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E5E7EB"/>
                </a:solidFill>
              </a:defRPr>
            </a:pPr>
            <a:r>
              <a:t>Low Season:  Rp 280.000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029200" cy="22860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Kalender Global Maret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18288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F4444"/>
                </a:solidFill>
              </a:defRPr>
            </a:pPr>
            <a:r>
              <a:t>28-31 Mar: High Season (Paskah)</a:t>
            </a:r>
          </a:p>
          <a:p>
            <a:pPr algn="l">
              <a:spcBef>
                <a:spcPts val="600"/>
              </a:spcBef>
              <a:defRPr sz="1400" b="0">
                <a:solidFill>
                  <a:srgbClr val="F59E0B"/>
                </a:solidFill>
              </a:defRPr>
            </a:pPr>
            <a:r>
              <a:t>29 Mar: Holiday (Nyepi) — overlap!</a:t>
            </a:r>
          </a:p>
          <a:p>
            <a:pPr algn="l">
              <a:spcBef>
                <a:spcPts val="400"/>
              </a:spcBef>
              <a:defRPr sz="1000" b="0">
                <a:solidFill>
                  <a:srgbClr val="9CA3AF"/>
                </a:solidFill>
              </a:defRPr>
            </a:pPr>
          </a:p>
          <a:p>
            <a:pPr algn="l">
              <a:spcBef>
                <a:spcPts val="400"/>
              </a:spcBef>
              <a:defRPr sz="1400" b="1">
                <a:solidFill>
                  <a:srgbClr val="FFFFFF"/>
                </a:solidFill>
              </a:defRPr>
            </a:pPr>
            <a:r>
              <a:t>High Season prioritas &gt; Holiday</a:t>
            </a:r>
          </a:p>
          <a:p>
            <a:pPr algn="l">
              <a:spcBef>
                <a:spcPts val="400"/>
              </a:spcBef>
              <a:defRPr sz="1400" b="0">
                <a:solidFill>
                  <a:srgbClr val="10B981"/>
                </a:solidFill>
              </a:defRPr>
            </a:pPr>
            <a:r>
              <a:t>→ Harga Rp 600.000 (bukan Rp 500.000)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40480"/>
            <a:ext cx="10698480" cy="274320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10698480" cy="5486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39776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Hasil Harga Per Tanggal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4480560"/>
            <a:ext cx="1280160" cy="173736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14400" y="4480560"/>
            <a:ext cx="128016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25 Mar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Rabu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Weekday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Rp 350.000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377440" y="4480560"/>
            <a:ext cx="1280160" cy="173736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2377440" y="4480560"/>
            <a:ext cx="1280160" cy="45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7744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26 Mar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744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Kamis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B82F6"/>
                </a:solidFill>
              </a:defRPr>
            </a:pPr>
            <a:r>
              <a:t>Weekday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Rp 350.000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40480" y="4480560"/>
            <a:ext cx="1280160" cy="173736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840480" y="4480560"/>
            <a:ext cx="1280160" cy="4572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27 Mar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Jumat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8B5CF6"/>
                </a:solidFill>
              </a:defRPr>
            </a:pPr>
            <a:r>
              <a:t>Weekend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Rp 450.000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303520" y="4480560"/>
            <a:ext cx="1280160" cy="173736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303520" y="4480560"/>
            <a:ext cx="1280160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0352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28 Mar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Sabtu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High Season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30352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Rp 600.000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66560" y="4480560"/>
            <a:ext cx="1280160" cy="173736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766560" y="4480560"/>
            <a:ext cx="1280160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6656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29 Mar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Minggu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High Season*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6656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Rp 600.000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4480560"/>
            <a:ext cx="1280160" cy="173736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8229600" y="4480560"/>
            <a:ext cx="1280160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30 Mar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Senin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High Season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Rp 600.000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692640" y="4480560"/>
            <a:ext cx="1280160" cy="1737360"/>
          </a:xfrm>
          <a:prstGeom prst="roundRect">
            <a:avLst/>
          </a:prstGeom>
          <a:solidFill>
            <a:srgbClr val="1A222E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9692640" y="4480560"/>
            <a:ext cx="1280160" cy="4572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92640" y="45720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31 Mar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92640" y="48463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</a:defRPr>
            </a:pPr>
            <a:r>
              <a:t>Selasa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512064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EF4444"/>
                </a:solidFill>
              </a:defRPr>
            </a:pPr>
            <a:r>
              <a:t>High Season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92640" y="54864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Rp 600.000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4400" y="6400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59E0B"/>
                </a:solidFill>
              </a:defRPr>
            </a:pPr>
            <a:r>
              <a:t>* 29 Mar: Minggu + Holiday + High Season → High Season menang (prioritas tertinggi)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Catatan Penting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05840"/>
            <a:ext cx="1828800" cy="4572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698480" cy="1051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73152" cy="10515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5087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B5CF6"/>
                </a:solidFill>
              </a:defRPr>
            </a:pPr>
            <a:r>
              <a:t>Weekend = Jumat &amp; Sabtu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920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Bukan Sabtu-Minggu. Disesuaikan dengan pola sewa kos/apartemen di Indonesia.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10698480" cy="1051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651760"/>
            <a:ext cx="73152" cy="10515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20" y="2788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9E0B"/>
                </a:solidFill>
              </a:defRPr>
            </a:pPr>
            <a:r>
              <a:t>Harga Opsional = Fallback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00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Jika High Season / Low Season / Holiday dikosongkan, sistem pakai harga Weekday atau Weekend.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10698480" cy="1051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73152" cy="10515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069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B981"/>
                </a:solidFill>
              </a:defRPr>
            </a:pPr>
            <a:r>
              <a:t>Regenerasi Otomatis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805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Setiap perubahan di Kalender atau Harga Kamar langsung meregenerasi 365 hari ke depan.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212079"/>
            <a:ext cx="10698480" cy="1051560"/>
          </a:xfrm>
          <a:prstGeom prst="roundRect">
            <a:avLst/>
          </a:prstGeom>
          <a:solidFill>
            <a:srgbClr val="1F2937"/>
          </a:solidFill>
          <a:ln w="12700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31520" y="5212079"/>
            <a:ext cx="73152" cy="1051560"/>
          </a:xfrm>
          <a:prstGeom prst="round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34923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Manual Override Dipertahankan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760719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</a:defRPr>
            </a:pPr>
            <a:r>
              <a:t>Harga yang di-override manual tidak akan ditimpa oleh regenerasi otomatis.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
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D4BF"/>
                </a:solidFill>
                <a:latin typeface="Calibri"/>
              </a:defRPr>
            </a:pPr>
            <a:r>
              <a:t>ULIN MAHONI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Alur Pemesanan &amp; Ketersediaan Kamar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Calibri"/>
              </a:defRPr>
            </a:pPr>
            <a:r>
              <a:t>Sewa Harian &amp; Bulanan  |  Platform Kos Indonesia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1188720" cy="457200"/>
          </a:xfrm>
          <a:prstGeom prst="round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Cari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4754880"/>
            <a:ext cx="1188720" cy="457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Pesan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4754880"/>
            <a:ext cx="1188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Bayar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035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4754880"/>
            <a:ext cx="1188720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751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4754880"/>
            <a:ext cx="11887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Perpanjang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467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4754880"/>
            <a:ext cx="1188720" cy="4572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Check-Out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183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4754880"/>
            <a:ext cx="11887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Calibri"/>
              </a:defRPr>
            </a:pPr>
            <a:r>
              <a:t>Siklus lengkap dari pencarian kamar hingga pengembalian deposit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4BF"/>
                </a:solidFill>
                <a:latin typeface="Calibri"/>
              </a:defRPr>
            </a:pPr>
            <a:r>
              <a:t>Gambaran Umum Sewa Harian vs Bulanan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C"/>
                </a:solidFill>
                <a:latin typeface="Calibri"/>
              </a:defRPr>
            </a:pPr>
            <a:r>
              <a:t>SEWA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Batasan Pemesanan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Maks tanggal check-in: 90 hari dari hari ini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Maks durasi menginap: 60 hari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Jam check-in: 14.00  |  Jam check-out: 12.00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Ketersediaan Kamar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Kamar SELALU tampil di hasil pencarian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Flag rental_status DIABAIKAN untuk kamar harian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Ketersediaan dicek berdasarkan konflik tanggal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Pergantian tamu di hari yang sama diizinkan (12.00 keluar, 14.00 masuk)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Harga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5 tingkat harga per tanggal: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  High Season &gt; Low Season &gt; Hari Libur &gt; Akhir Pekan &gt; Hari Kerja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Harga per tanggal disimpan di m_room_prices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Override harga manual tetap dipertahankan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SEWA BULANAN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Batasan Pemesanan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Maks tanggal check-in: 14 hari dari hari ini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Maks durasi menginap: 12 bulan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Tanggal check-in: fleksibel  |  Check-out: tanggal sama bulan berikutnya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Ketersediaan Kamar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Dikendalikan oleh flag rental_status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rental_status = 0 : Tersedia (tampil di pencarian)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rental_status = 1 : Terisi (tersembunyi dari pencarian)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Status langsung diblokir saat pemesanan dibuat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Harga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Harga bulanan tetap dari data kamar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Harga dikunci saat pemesanan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  Perpanjangan menggunakan harga terbaru (bisa berbeda)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original_checkin_day dipertahankan antar perpanjangan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Langkah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9CFC"/>
                </a:solidFill>
                <a:latin typeface="Calibri"/>
              </a:defRPr>
            </a:pPr>
            <a:r>
              <a:t>Cari Kamar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AKSI PENGGUNA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Pilih properti (atau lihat semua)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Pilih periode sewa: Harian atau Bulanan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Pilih tanggal check-in dan check-out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Sistem memfilter kamar yang tersedia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Lihat detail kamar, foto, fasilitas, harga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LOGIKA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Harian: Tampilkan semua kamar aktif (status=1)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Kecualikan kamar dengan konflik tanggal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Batas check-in 14.00 / check-out 12.00</a:t>
            </a:r>
          </a:p>
          <a:p>
            <a:pPr>
              <a:spcAft>
                <a:spcPts val="400"/>
              </a:spcAft>
              <a:defRPr sz="1300" b="0">
                <a:solidFill>
                  <a:srgbClr val="A78BFA"/>
                </a:solidFill>
                <a:latin typeface="Calibri"/>
              </a:defRPr>
            </a:pPr>
            <a:r>
              <a:t>Bulanan: Filter berdasarkan rental_status = 0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Hanya tampilkan kamar yang tidak terisi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Langsung diblokir saat pemesanan dibuat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Ketersediaan Kamar pada Langkah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C"/>
                </a:solidFill>
                <a:latin typeface="Calibri"/>
              </a:defRPr>
            </a:pPr>
            <a:r>
              <a:t>KAMAR HARIAN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75488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TERSEDIA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10-12 kosong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102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12064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TERSEDIA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10-12 kosong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103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548640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KONFLIK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10-11 dipesan tamu 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104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585216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TERSEDIA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10-12 kosong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KAMAR BULANAN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201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475488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TERSEDIA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202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512064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1 (terisi)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203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548640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TERSEDIA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852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Kamar 204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585216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TERISI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1 (terisi)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Langkah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4BF"/>
                </a:solidFill>
                <a:latin typeface="Calibri"/>
              </a:defRPr>
            </a:pPr>
            <a:r>
              <a:t>Buat Pemesanan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Pengguna Kirim Pemesanan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POST /api/v1/booking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Pilih kamar, tanggal, parkir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Tinjau rincian harga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Konfirmasi permintaan pesanan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31920" y="173736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097280"/>
            <a:ext cx="34747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Sistem Membuat Data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Transaksi: status = pending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Pemesanan: status = 1 (aktif)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Pembayaran: status = belum bayar</a:t>
            </a:r>
          </a:p>
          <a:p>
            <a:pPr>
              <a:spcAft>
                <a:spcPts val="400"/>
              </a:spcAft>
              <a:defRPr sz="1200" b="1">
                <a:solidFill>
                  <a:srgbClr val="F97316"/>
                </a:solidFill>
                <a:latin typeface="Calibri"/>
              </a:defRPr>
            </a:pPr>
            <a:r>
              <a:t>Kedaluwarsa: hitung mundur 15 menit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55279" y="173736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1097280"/>
            <a:ext cx="3200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1887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Jika Kedaluwarsa (15 menit)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Transaksi: status = expired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Pemesanan: status = 0 (nonaktif)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Bulanan: rental_status = 0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Kamar dilepas kembali ke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Dampak Ketersediaan Kamar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C"/>
                </a:solidFill>
                <a:latin typeface="Calibri"/>
              </a:defRPr>
            </a:pPr>
            <a:r>
              <a:t>KAMAR HARIAN DIPESAN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Kamar 101 dipesan untuk 10-12 Apr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rental_status: TIDAK BERUBAH (tetap 0)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Pengguna lain mencari 10-12 Apr: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  Kamar 101: tersembunyi (konflik tanggal)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Kamar 102: masih tersedia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Pengguna lain mencari 13-15 Apr: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Kamar 101: tersedia (tidak ada konflik)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KAMAR BULANAN DIPESAN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Kamar 201 dipesan untuk Apr-Mei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rental_status: LANGSUNG DISET KE 1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Pengguna lain mencari tanggal apapun: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  Kamar 201: tersembunyi dari semua pencarian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Kamar 203: masih tersedia (status=0)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Kamar diblokir bahkan selama jendela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pembayaran 15 menit untuk cegah double-booking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Langkah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Pembayaran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METODE PEMBAYARAN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9CFC"/>
                </a:solidFill>
                <a:latin typeface="Calibri"/>
              </a:defRPr>
            </a:pPr>
            <a:r>
              <a:t>Virtual Account (VA)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BRI, BNI, BCA, Mandiri, CIMB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  Nomor VA unik per pemesanan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QRIS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Pindai kode QR untuk membayar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  Didukung semua bank Indonesia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Kartu Kredit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Pembayaran kartu langsung via DOKU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BBF24"/>
                </a:solidFill>
                <a:latin typeface="Calibri"/>
              </a:defRPr>
            </a:pPr>
            <a:r>
              <a:t>Didukung oleh DOKU Payment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ALUR PEMBAYARAN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Pengguna pilih metode pembayaran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Sistem buat kode bayar/QR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Pengguna selesaikan pembayaran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DOKU kirim webhook callback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Sistem verifikasi &amp; update status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Transisi Status: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  pending  →  paid (lunas)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97316"/>
                </a:solidFill>
                <a:latin typeface="Calibri"/>
              </a:defRPr>
            </a:pPr>
            <a:r>
              <a:t>Batas pembayaran: 15 menit</a:t>
            </a:r>
          </a:p>
          <a:p>
            <a:pPr>
              <a:spcAft>
                <a:spcPts val="400"/>
              </a:spcAft>
              <a:defRPr sz="1200" b="0">
                <a:solidFill>
                  <a:srgbClr val="F97316"/>
                </a:solidFill>
                <a:latin typeface="Calibri"/>
              </a:defRPr>
            </a:pPr>
            <a:r>
              <a:t>Otomatis kedaluwarsa jika tidak dibayar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Admin bisa verifikasi manual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9728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SETELAH PEMBAYARAN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645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Transaksi: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  status = paid (lunas)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Pemesanan: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status = 1 (aktif)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  Menunggu check-in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Notifikasi Push:</a:t>
            </a:r>
          </a:p>
          <a:p>
            <a:pPr>
              <a:spcAft>
                <a:spcPts val="400"/>
              </a:spcAft>
              <a:defRPr sz="1300" b="0">
                <a:solidFill>
                  <a:srgbClr val="2DD4BF"/>
                </a:solidFill>
                <a:latin typeface="Calibri"/>
              </a:defRPr>
            </a:pPr>
            <a:r>
              <a:t>  Dikirim ke tamu + admin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Ketersediaan Kamar:</a:t>
            </a:r>
          </a:p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  Harian: tidak berubah</a:t>
            </a:r>
          </a:p>
          <a:p>
            <a:pPr>
              <a:spcAft>
                <a:spcPts val="400"/>
              </a:spcAft>
              <a:defRPr sz="1300" b="0">
                <a:solidFill>
                  <a:srgbClr val="A78BFA"/>
                </a:solidFill>
                <a:latin typeface="Calibri"/>
              </a:defRPr>
            </a:pPr>
            <a:r>
              <a:t>  Bulanan: tetap terblokir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Ketersediaan Kamar: Tidak Ada Perubahan dari Langkah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Kamar harian: Tetap tersedia untuk tanggal yang tidak konflik. Filter berbasis konflik berlanjut.</a:t>
            </a:r>
          </a:p>
          <a:p>
            <a:pPr>
              <a:spcAft>
                <a:spcPts val="400"/>
              </a:spcAft>
              <a:defRPr sz="1300" b="0">
                <a:solidFill>
                  <a:srgbClr val="A78BFA"/>
                </a:solidFill>
                <a:latin typeface="Calibri"/>
              </a:defRPr>
            </a:pPr>
            <a:r>
              <a:t>Kamar bulanan: rental_status tetap 1. Kamar tetap tersembunyi dari semua pencarian.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Konfirmasi pembayaran tidak mengubah ketersediaan kamar — sudah direservasi saat pembuatan pesanan.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Langkah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78BFA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PROSES CHECK-IN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Admin buka halaman Pemesanan Terkonfirmasi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Klik tombol Check-In pada pemesanan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Unggah dokumen identitas tamu: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 KTP / Paspor / SIM / Lainnya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Verifikasi identitas tamu (NIK, foto)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Sistem mencatat: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check_in_at = waktu saat ini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checked_in_by = ID admin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Cetak formulir registrasi &amp; invoice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PERUBAHAN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BBF24"/>
                </a:solidFill>
                <a:latin typeface="Calibri"/>
              </a:defRPr>
            </a:pPr>
            <a:r>
              <a:t>Sebelum Check-In: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Transaksi: paid (lunas)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Pemesanan: status = 1, check_in_at = NULL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  Kondisi: "Menunggu Check-In"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Setelah Check-In: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Transaksi: paid (tidak berubah)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Pemesanan: check_in_at = timestamp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Kondisi: "Sudah Check-In"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check_out_at = NULL (menunggu checkout)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Ketersediaan Kamar pada Langkah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89CFC"/>
                </a:solidFill>
                <a:latin typeface="Calibri"/>
              </a:defRPr>
            </a:pPr>
            <a:r>
              <a:t>Kamar Harian: TIDAK BERUBAH — ketersediaan tetap ditentukan oleh konflik tanggal saja</a:t>
            </a:r>
          </a:p>
          <a:p>
            <a:pPr>
              <a:spcAft>
                <a:spcPts val="400"/>
              </a:spcAft>
              <a:defRPr sz="1400" b="0">
                <a:solidFill>
                  <a:srgbClr val="A78BFA"/>
                </a:solidFill>
                <a:latin typeface="Calibri"/>
              </a:defRPr>
            </a:pPr>
            <a:r>
              <a:t>Kamar Bulanan: TIDAK BERUBAH — rental_status tetap 1 (sudah diset saat pembuatan pesanan)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Check-in fisik tidak mengubah flag ketersediaan apapun.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Kamar sudah direservasi/diblokir sejak Langkah 2 (pembuatan pesanan).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Tamu sekarang secara fisik menempati kamar.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Langkah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Perpanjangan (Extend Menginap)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PROSES PERPANJANGAN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Pemicu: Tamu ingin memperpanjang masa tinggal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POST /api/v1/booking/{order_id}/renew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Validasi pemesanan asli sudah lunas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2. Lewati cek rental_status (penyewa sama)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Buat transaksi BARU (is_renewal = 1)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Buat data pemesanan BARU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Data pembayaran baru (belum bayar, 15 menit)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Update Pemesanan Asli: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check_out_at = sekarang (dicatat untuk arsip)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  renewal_status = 1 (ditandai sudah diperpanjang)</a:t>
            </a:r>
          </a:p>
          <a:p>
            <a:pPr>
              <a:spcAft>
                <a:spcPts val="400"/>
              </a:spcAft>
              <a:defRPr sz="1200" b="0">
                <a:solidFill>
                  <a:srgbClr val="F97316"/>
                </a:solidFill>
                <a:latin typeface="Calibri"/>
              </a:defRPr>
            </a:pPr>
            <a:r>
              <a:t>  Kuota parkir TIDAK ditambah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05840"/>
            <a:ext cx="53035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OKUPANSI BERKELANJUTAN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Prinsip Utama: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Kamar TIDAK PERNAH menjadi tersedia antara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pemesanan asli dan perpanjangan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Rantai Perpanjangan Bulanan: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Check-in 31 Jan → Perpanjang ke Feb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  original_checkin_day = 31 dipertahankan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Perpanjangan berikut: 31 Mar (bukan 28 Feb)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Mencegah kehilangan hari antar bulan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89CFC"/>
                </a:solidFill>
                <a:latin typeface="Calibri"/>
              </a:defRPr>
            </a:pPr>
            <a:r>
              <a:t>Perpanjangan Harian: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Cukup memperpanjang rentang tanggal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Cek konflik baru untuk tanggal perpanjangan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Pemesanan tamu lain tetap dihormati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Ketersediaan Kamar pada Langkah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89CFC"/>
                </a:solidFill>
                <a:latin typeface="Calibri"/>
              </a:defRPr>
            </a:pPr>
            <a:r>
              <a:t>Kamar Harian: Rentang tanggal diperpanjang masuk ke cek konflik. Kamar diblokir untuk tanggal asli + perpanjangan.</a:t>
            </a:r>
          </a:p>
          <a:p>
            <a:pPr>
              <a:spcAft>
                <a:spcPts val="400"/>
              </a:spcAft>
              <a:defRPr sz="1400" b="0">
                <a:solidFill>
                  <a:srgbClr val="A78BFA"/>
                </a:solidFill>
                <a:latin typeface="Calibri"/>
              </a:defRPr>
            </a:pPr>
            <a:r>
              <a:t>Kamar Bulanan: rental_status TETAP 1 — okupansi berkelanjutan, tanpa jeda. Kamar tetap tersembunyi dari pencarian.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97316"/>
                </a:solidFill>
                <a:latin typeface="Calibri"/>
              </a:defRPr>
            </a:pPr>
            <a:r>
              <a:t>Jika pembayaran perpanjangan kedaluwarsa (15 menit): Kamar kembali ke status pemesanan asli.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Jika perpanjangan dibatalkan: Pemesanan asli dipulihkan (renewal_status = 0, check_out_at = NULL).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Langkah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4899"/>
                </a:solidFill>
                <a:latin typeface="Calibri"/>
              </a:defRPr>
            </a:pPr>
            <a:r>
              <a:t>Check-Out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PROSES CHECK-OUT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Admin buka halaman "Check-out Hari Ini"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 Menampilkan pemesanan jatuh tempo atau terlambat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Buka modal checkout untuk pemesanan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Catat kondisi item kamar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 Catat kerusakan &amp; biaya tambahan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Tambah catatan checkout jika perlu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Konfirmasi check-out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Sistem mencatat: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check_out_at = waktu saat ini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checked_out_by = ID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PERUBAHAN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Pemesanan: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status = 0 (nonaktif)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check_out_at = timestamp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Transaksi: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status = paid (tidak berubah)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Parkir:</a:t>
            </a:r>
          </a:p>
          <a:p>
            <a:pPr>
              <a:spcAft>
                <a:spcPts val="400"/>
              </a:spcAft>
              <a:defRPr sz="1300" b="0">
                <a:solidFill>
                  <a:srgbClr val="2DD4BF"/>
                </a:solidFill>
                <a:latin typeface="Calibri"/>
              </a:defRPr>
            </a:pPr>
            <a:r>
              <a:t>  Kuota dikurangi (dibebaskan)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  Dicek dari 3 sumber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Ketersediaan Kamar pada Langkah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54864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JIKA TIDAK ADA PEMESANAN AKTIF 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Harian: Tanggal kamar dibebaskan dari daftar konflik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Bulanan: rental_status = 0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Kamar kembali ke pool tersedia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Terlihat di hasil pencarian lagi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663440"/>
            <a:ext cx="53035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JIKA ADA PEMESANAN AKTIF 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212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Tamu berikutnya sudah punya pemesanan kamar ini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Bulanan: rental_status tetap 1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Kamar tetap terblokir untuk penghuni berikutnya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Transisi mulus antar penyewa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Langkah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Refund &amp; Deposit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02920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TINGKAT REFUND PEMBATALAN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Hari Sebelum Check-In → % Refund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  &gt; 10 hari :  75% kamar + parkir</a:t>
            </a:r>
          </a:p>
          <a:p>
            <a:pPr>
              <a:spcAft>
                <a:spcPts val="400"/>
              </a:spcAft>
              <a:defRPr sz="1400" b="0">
                <a:solidFill>
                  <a:srgbClr val="FBBF24"/>
                </a:solidFill>
                <a:latin typeface="Calibri"/>
              </a:defRPr>
            </a:pPr>
            <a:r>
              <a:t>  9-7 hari  :  50% kamar + parkir</a:t>
            </a:r>
          </a:p>
          <a:p>
            <a:pPr>
              <a:spcAft>
                <a:spcPts val="400"/>
              </a:spcAft>
              <a:defRPr sz="1400" b="0">
                <a:solidFill>
                  <a:srgbClr val="F97316"/>
                </a:solidFill>
                <a:latin typeface="Calibri"/>
              </a:defRPr>
            </a:pPr>
            <a:r>
              <a:t>  6-3 hari  :  25% kamar + parkir</a:t>
            </a:r>
          </a:p>
          <a:p>
            <a:pPr>
              <a:spcAft>
                <a:spcPts val="40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  &lt; 3 hari  :   0% (tidak ada refund)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Deposit: SELALU dikembalikan 100%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Biaya layanan/admin: TIDAK dikembalikan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Admin bisa override jumlah kalkulasi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005840"/>
            <a:ext cx="594360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PROSES REFUND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Pengguna/Admin memulai pembatalan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Sistem menghitung rincian refund: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refund_kamar + refund_deposit + refund_lainnya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3. Data refund dibuat (status = pending)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4. Pemesanan: status = 0, Transaksi: dibatalkan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5. Kamar langsung dilepas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Konfirmasi Refund (Admin):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Admin unggah bukti transfer refund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7. Status refund: pending → refunded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8. Status transaksi: dibatalkan → refunded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Info bank diperlukan untuk refund QRIS/VA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Ketersediaan Kamar Setelah Pembatalan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89CFC"/>
                </a:solidFill>
                <a:latin typeface="Calibri"/>
              </a:defRPr>
            </a:pPr>
            <a:r>
              <a:t>Kamar Harian: Tanggal pemesanan dihapus dari daftar konflik → Kamar tersedia untuk tanggal tersebut lagi</a:t>
            </a:r>
          </a:p>
          <a:p>
            <a:pPr>
              <a:spcAft>
                <a:spcPts val="400"/>
              </a:spcAft>
              <a:defRPr sz="1400" b="0">
                <a:solidFill>
                  <a:srgbClr val="A78BFA"/>
                </a:solidFill>
                <a:latin typeface="Calibri"/>
              </a:defRPr>
            </a:pPr>
            <a:r>
              <a:t>Kamar Bulanan: rental_status = 0 → Kamar langsung terlihat di hasil pencarian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97316"/>
                </a:solidFill>
                <a:latin typeface="Calibri"/>
              </a:defRPr>
            </a:pPr>
            <a:r>
              <a:t>Jika membatalkan PERPANJANGAN: Pemesanan asli dipulihkan (renewal_status = 0, check_out_at = NULL)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Pemesanan induk berlanjut seolah perpanjangan tidak pernah terjadi. Kamar tetap ditempati penyewa asli.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D4BF"/>
                </a:solidFill>
                <a:latin typeface="Calibri"/>
              </a:defRPr>
            </a:pPr>
            <a:r>
              <a:t>Ringkasan Alur Lengkap — Timeline Ketersediaan Kamar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1463040" cy="640080"/>
          </a:xfrm>
          <a:prstGeom prst="round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Cari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28800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Harian: Tampil semua</a:t>
            </a:r>
            <a:br/>
            <a:r>
              <a:t>Bulanan: status=0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914400"/>
            <a:ext cx="146304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Pesanan</a:t>
            </a:r>
            <a:br/>
            <a:r>
              <a:t>Dibuat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93008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Harian: Tidak berubah</a:t>
            </a:r>
            <a:br/>
            <a:r>
              <a:t>Bulanan: status→1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176" y="91440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Bayar</a:t>
            </a:r>
            <a:br/>
            <a:r>
              <a:t>Lunas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57216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Harian: Tidak berubah</a:t>
            </a:r>
            <a:br/>
            <a:r>
              <a:t>Bulanan: Tetap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8384" y="914400"/>
            <a:ext cx="1463040" cy="6400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21424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Harian: Tidak berubah</a:t>
            </a:r>
            <a:br/>
            <a:r>
              <a:t>Bulanan: Tetap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2592" y="914400"/>
            <a:ext cx="146304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Perpanjang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85632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Harian: Diperluas</a:t>
            </a:r>
            <a:br/>
            <a:r>
              <a:t>Bulanan: Tetap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914400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Check-Out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149840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Harian: Dibebaskan</a:t>
            </a:r>
            <a:br/>
            <a:r>
              <a:t>Bulanan: status→0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51008" y="91440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Dibatalkan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1008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Harian: Dibebaskan</a:t>
            </a:r>
            <a:br/>
            <a:r>
              <a:t>Bulanan: status→0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C"/>
                </a:solidFill>
                <a:latin typeface="Calibri"/>
              </a:defRPr>
            </a:pPr>
            <a:r>
              <a:t>HARIAN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1752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</a:t>
            </a:r>
            <a:br/>
            <a:r>
              <a:t>(tanpa konflik)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29968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Tersedia*</a:t>
            </a:r>
            <a:br/>
            <a:r>
              <a:t>(tgl diblokir)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94176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Tersedia*</a:t>
            </a:r>
            <a:br/>
            <a:r>
              <a:t>(tgl diblokir)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58384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Tersedia*</a:t>
            </a:r>
            <a:br/>
            <a:r>
              <a:t>(tgl diblokir)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22592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Tersedia*</a:t>
            </a:r>
            <a:br/>
            <a:r>
              <a:t>(lebih banyak tgl)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01752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</a:t>
            </a:r>
            <a:br/>
            <a:r>
              <a:t>(tgl dibebaskan)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51008" y="301752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</a:t>
            </a:r>
            <a:br/>
            <a:r>
              <a:t>(tgl dibebaskan)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* Kamar tampil di pencarian tapi diblokir untuk tanggal yang konflik saja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BULANAN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4805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</a:t>
            </a:r>
            <a:br/>
            <a:r>
              <a:t>status =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29968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Terblokir</a:t>
            </a:r>
            <a:br/>
            <a:r>
              <a:t>status =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94176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Terblokir</a:t>
            </a:r>
            <a:br/>
            <a:r>
              <a:t>status =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58384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Ditempati</a:t>
            </a:r>
            <a:br/>
            <a:r>
              <a:t>status =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22592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Ditempati</a:t>
            </a:r>
            <a:br/>
            <a:r>
              <a:t>status =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4805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</a:t>
            </a:r>
            <a:br/>
            <a:r>
              <a:t>status =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51008" y="44805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Tersedia</a:t>
            </a:r>
            <a:br/>
            <a:r>
              <a:t>status =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Insight Utama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52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Kamar harian menggunakan pengecekan konflik tanggal — kamar selalu "tersedia" tapi tanggal tertentu diblokir. Kamar bulanan menggunakan flag biner.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Kamar bulanan langsung diblokir saat pemesanan (bahkan sebelum bayar) untuk mencegah double-booking selama jendela pembayaran 15 menit.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Perpanjangan menjaga okupansi berkelanjutan — kamar tidak pernah menjadi tersedia antara pemesanan asli dan perpanjangan.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
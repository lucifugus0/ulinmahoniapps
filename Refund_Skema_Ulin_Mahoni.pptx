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011680"/>
            <a:ext cx="21031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Skema Pembatalan &amp; Refund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</a:defRPr>
            </a:pPr>
            <a:r>
              <a:t>Ulin Mahoni — Platform Booking Kos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31 Maret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Kebijakan Refund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1. Refund Harga Kamar &amp; Parkir/Lainnya (sama)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3774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&gt; 10 hari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sebelum check-in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23774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9 - 7 hari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sebelum check-in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92024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1920240"/>
            <a:ext cx="23774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6 - 3 hari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</a:defRPr>
            </a:pPr>
            <a: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sebelum check-in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92024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0" y="1920240"/>
            <a:ext cx="2377440" cy="73152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&lt; 3 hari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7280"/>
                </a:solidFill>
              </a:defRPr>
            </a:pPr>
            <a: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sebelum check-in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Berlaku untuk: Harga Kamar, Parkir, dan biaya lainnya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2. Deposit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89120"/>
            <a:ext cx="5029200" cy="7315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Selalu dikembalikan 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3. TIDAK Direfund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389120"/>
            <a:ext cx="5029200" cy="7315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E7EB"/>
                </a:solidFill>
              </a:defRPr>
            </a:pPr>
            <a:r>
              <a:t>Biaya Layanan &amp; Biaya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Metode Pengembalian Dana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Metode Pembayaran Asal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Refund dikembalikan ke metode pembayaran yang digunakan saat booking.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9CA3AF"/>
                </a:solidFill>
              </a:defRPr>
            </a:pPr>
            <a:r>
              <a:t>Contoh: Credit Card -&gt; refund ke Credit Card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0116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Khusus QRIS &amp; Virtual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User wajib mengisi data rekening bank: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  •  Nama Bank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  •  Nomor Rekening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  •  Nama Pemilik Rekening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F4444"/>
                </a:solidFill>
              </a:defRPr>
            </a:pPr>
            <a:r>
              <a:t>Biaya admin bank berlaku.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Waktu Proses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</a:defRPr>
            </a:pPr>
            <a:r>
              <a:t>HQ memproses refund dalam 45 hari  •  Dana diterima user dalam 14-30 hari kerja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Alur Pembatalan &amp; Refund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28800" y="1508760"/>
            <a:ext cx="457200" cy="27432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737360" cy="25603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173736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Buka</a:t>
            </a:r>
            <a:br/>
            <a:r>
              <a:t>My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User membuka halaman</a:t>
            </a:r>
            <a:br/>
            <a:r>
              <a:t>My Booking di aplikasi</a:t>
            </a:r>
            <a:br/>
            <a:r>
              <a:t>atau website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9040" y="1508760"/>
            <a:ext cx="457200" cy="27432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2103120"/>
            <a:ext cx="1737360" cy="25603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2103120"/>
            <a:ext cx="173736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Pilih</a:t>
            </a:r>
            <a:br/>
            <a:r>
              <a:t>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0175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User memilih booking</a:t>
            </a:r>
            <a:br/>
            <a:r>
              <a:t>yang ingin dibatalkan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669280" y="1508760"/>
            <a:ext cx="457200" cy="27432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2103120"/>
            <a:ext cx="1737360" cy="25603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2103120"/>
            <a:ext cx="17373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Lihat</a:t>
            </a:r>
            <a:br/>
            <a:r>
              <a:t>Refund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0175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Sistem menghitung</a:t>
            </a:r>
            <a:br/>
            <a:r>
              <a:t>otomatis jumlah refund</a:t>
            </a:r>
            <a:br/>
            <a:r>
              <a:t>yang akan diterima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13716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89520" y="1508760"/>
            <a:ext cx="457200" cy="27432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2103120"/>
            <a:ext cx="1737360" cy="25603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103120"/>
            <a:ext cx="173736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Konfirmasi</a:t>
            </a:r>
            <a:br/>
            <a:r>
              <a:t>Pembatalan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175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User setuju/tidak dengan</a:t>
            </a:r>
            <a:br/>
            <a:r>
              <a:t>jumlah refund.</a:t>
            </a:r>
            <a:br/>
            <a:r>
              <a:t>Isi data bank jika QRIS/VA</a:t>
            </a:r>
          </a:p>
        </p:txBody>
      </p:sp>
      <p:sp>
        <p:nvSpPr>
          <p:cNvPr id="28" name="Oval 27"/>
          <p:cNvSpPr/>
          <p:nvPr/>
        </p:nvSpPr>
        <p:spPr>
          <a:xfrm>
            <a:off x="87325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09760" y="1508760"/>
            <a:ext cx="457200" cy="27432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2103120"/>
            <a:ext cx="1737360" cy="25603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2103120"/>
            <a:ext cx="173736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Kamar</a:t>
            </a:r>
            <a:br/>
            <a:r>
              <a:t>Dilepas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175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Sistem otomatis melepas</a:t>
            </a:r>
            <a:br/>
            <a:r>
              <a:t>kamar agar tersedia</a:t>
            </a:r>
            <a:br/>
            <a:r>
              <a:t>kembali</a:t>
            </a:r>
          </a:p>
        </p:txBody>
      </p:sp>
      <p:sp>
        <p:nvSpPr>
          <p:cNvPr id="34" name="Oval 33"/>
          <p:cNvSpPr/>
          <p:nvPr/>
        </p:nvSpPr>
        <p:spPr>
          <a:xfrm>
            <a:off x="10652760" y="1371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103120"/>
            <a:ext cx="1737360" cy="25603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0" y="2103120"/>
            <a:ext cx="17373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HQ Proses</a:t>
            </a:r>
            <a:br/>
            <a:r>
              <a:t>Refund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0175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HQ memverifikasi dan</a:t>
            </a:r>
            <a:br/>
            <a:r>
              <a:t>memproses pengembalian</a:t>
            </a:r>
            <a:br/>
            <a:r>
              <a:t>dana (maks 45 hari)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166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Tersedia di: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E5E7EB"/>
                </a:solidFill>
              </a:defRPr>
            </a:pPr>
            <a:r>
              <a:t>•  Mobile App — tombol "Batalkan Booking" di halaman detail booking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E5E7EB"/>
                </a:solidFill>
              </a:defRPr>
            </a:pPr>
            <a:r>
              <a:t>•  Website — tombol "Batalkan" di halaman My Bookings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E5E7EB"/>
                </a:solidFill>
              </a:defRPr>
            </a:pPr>
            <a:r>
              <a:t>•  Backend Admin — admin juga dapat membatalkan booking via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Contoh 1: Kamar + Deposit (11 hari sebelum check-in)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82880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Detail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Harga Kamar (30 hari)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3.000.000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Deposit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500.000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Layanan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50.000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25.000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TOTAL BAYAR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FFFFFF"/>
                </a:solidFill>
              </a:defRPr>
            </a:pPr>
            <a:r>
              <a:t>Rp 3.575.000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029200" cy="2743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Perhitungan Refund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920240"/>
            <a:ext cx="3200400" cy="41148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11 hari sebelum check-in → 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Refund Kamar (75%)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10B981"/>
                </a:solidFill>
              </a:defRPr>
            </a:pPr>
            <a:r>
              <a:t>Rp 2.250.000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Refund Deposit (100%)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10B981"/>
                </a:solidFill>
              </a:defRPr>
            </a:pPr>
            <a:r>
              <a:t>Rp 500.000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Layanan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F4444"/>
                </a:solidFill>
              </a:defRPr>
            </a:pPr>
            <a:r>
              <a:t>Rp 0 (tidak direfund)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F4444"/>
                </a:solidFill>
              </a:defRPr>
            </a:pPr>
            <a:r>
              <a:t>Rp 0 (tidak direfund)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TOTAL REFUND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</a:defRPr>
            </a:pPr>
            <a:r>
              <a:t>Rp 2.750.000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698480" cy="7315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User menerima refund: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80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0B981"/>
                </a:solidFill>
              </a:defRPr>
            </a:pPr>
            <a:r>
              <a:t>Rp 2.750.000 dari total Rp 3.575.000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Contoh 2: Kamar + Parkir + Deposit (5 hari sebelum check-in)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82880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3200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Detail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Harga Kamar (30 hari)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3.000.000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Deposit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500.000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Parkir Mobil (1 bulan)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300.000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Layanan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50.000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25.000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TOTAL BAYAR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FFFFFF"/>
                </a:solidFill>
              </a:defRPr>
            </a:pPr>
            <a:r>
              <a:t>Rp 3.875.000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280160"/>
            <a:ext cx="5029200" cy="3200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280160"/>
            <a:ext cx="50292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Perhitungan Refund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1920240"/>
            <a:ext cx="3200400" cy="411480"/>
          </a:xfrm>
          <a:prstGeom prst="roundRect">
            <a:avLst/>
          </a:prstGeom>
          <a:solidFill>
            <a:srgbClr val="7835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5 hari sebelum check-in → 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Kamar (25%)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59E0B"/>
                </a:solidFill>
              </a:defRPr>
            </a:pPr>
            <a:r>
              <a:t>Rp 750.000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Deposit (100%)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10B981"/>
                </a:solidFill>
              </a:defRPr>
            </a:pPr>
            <a:r>
              <a:t>Rp 500.000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Parkir (25%)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59E0B"/>
                </a:solidFill>
              </a:defRPr>
            </a:pPr>
            <a:r>
              <a:t>Rp 75.000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Biaya Layanan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</a:defRPr>
            </a:pPr>
            <a:r>
              <a:t>Rp 0 (tidak direfund)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Biaya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</a:defRPr>
            </a:pPr>
            <a:r>
              <a:t>Rp 0 (tidak direfund)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TOTAL REFUND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</a:defRPr>
            </a:pPr>
            <a:r>
              <a:t>Rp 1.325.000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846320"/>
            <a:ext cx="10698480" cy="731520"/>
          </a:xfrm>
          <a:prstGeom prst="roundRect">
            <a:avLst/>
          </a:prstGeom>
          <a:solidFill>
            <a:srgbClr val="7835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User menerima refund: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37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59E0B"/>
                </a:solidFill>
              </a:defRPr>
            </a:pPr>
            <a:r>
              <a:t>Rp 1.325.000 dari total Rp 3.875.000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Contoh 3: Kamar + Deposit + Parkir (2 hari sebelum check-in)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828800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3200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Detail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Harga Kamar (30 hari)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3.000.000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Deposit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500.000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Parkir Motor (1 bulan)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150.000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Layanan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50.000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5E7EB"/>
                </a:solidFill>
              </a:defRPr>
            </a:pPr>
            <a:r>
              <a:t>Biaya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E5E7EB"/>
                </a:solidFill>
              </a:defRPr>
            </a:pPr>
            <a:r>
              <a:t>Rp 25.000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TOTAL BAYAR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FFFFFF"/>
                </a:solidFill>
              </a:defRPr>
            </a:pPr>
            <a:r>
              <a:t>Rp 3.725.000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280160"/>
            <a:ext cx="5029200" cy="3200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280160"/>
            <a:ext cx="502920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Perhitungan Refund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1920240"/>
            <a:ext cx="3200400" cy="411480"/>
          </a:xfrm>
          <a:prstGeom prst="round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2 hari sebelum check-in → 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Kamar (0%)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</a:defRPr>
            </a:pPr>
            <a:r>
              <a:t>Rp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Deposit (100%)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10B981"/>
                </a:solidFill>
              </a:defRPr>
            </a:pPr>
            <a:r>
              <a:t>Rp 500.000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Parkir (0%)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</a:defRPr>
            </a:pPr>
            <a:r>
              <a:t>Rp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Biaya Layanan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</a:defRPr>
            </a:pPr>
            <a:r>
              <a:t>Rp 0 (tidak direfund)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Biaya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</a:defRPr>
            </a:pPr>
            <a:r>
              <a:t>Rp 0 (tidak direfund)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TOTAL REFUND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</a:defRPr>
            </a:pPr>
            <a:r>
              <a:t>Rp 500.000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846320"/>
            <a:ext cx="10698480" cy="731520"/>
          </a:xfrm>
          <a:prstGeom prst="round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User hanya menerima deposit: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37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F4444"/>
                </a:solidFill>
              </a:defRPr>
            </a:pPr>
            <a:r>
              <a:t>Rp 500.000 dari total Rp 3.725.000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9E0B"/>
                </a:solidFill>
              </a:defRPr>
            </a:pPr>
            <a:r>
              <a:t>Pembatalan &lt; 3 hari sebelum check-in hanya mengembalikan deposit. Kamar dan parkir tidak direfund.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Ringkasan Perbandingan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486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Komponen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Contoh 1 (11 hari)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Contoh 2 (5 hari)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Contoh 3 (2 hari)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10698480" cy="36576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Harga Kamar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3.000.000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3.000.000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3.000.000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Deposit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500.000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500.000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500.000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97479"/>
            <a:ext cx="10698480" cy="36576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Parkir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300.000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150.000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0815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Service +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0815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75.000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0815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75.000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0815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75.000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428999"/>
            <a:ext cx="10698480" cy="36576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34472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Total Bayar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4472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3.575.000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4472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3.875.000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4472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3.725.000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31920"/>
            <a:ext cx="10698480" cy="36576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% Refund (Kamar+Parkir)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</a:defRPr>
            </a:pPr>
            <a:r>
              <a:t>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Kamar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2.250.000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750.000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Rp 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63440"/>
            <a:ext cx="10698480" cy="36576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4681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Deposit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681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500.000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681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500.000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681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500.000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Refund Parkir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Rp 75.000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Rp 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394960"/>
            <a:ext cx="10698480" cy="41148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TOTAL REFUND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Rp 2.750.000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Rp 1.325.000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Rp 500.000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